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embeddedFontLst>
    <p:embeddedFont>
      <p:font typeface="Tinos"/>
      <p:regular r:id="rId18"/>
      <p:bold r:id="rId19"/>
      <p:italic r:id="rId20"/>
      <p:boldItalic r:id="rId21"/>
    </p:embeddedFont>
    <p:embeddedFont>
      <p:font typeface="Carli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9B88B6-FBCB-4CA2-9A1E-9AC02C2547B8}">
  <a:tblStyle styleId="{199B88B6-FBCB-4CA2-9A1E-9AC02C2547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Tinos-italic.fntdata"/><Relationship Id="rId22" Type="http://schemas.openxmlformats.org/officeDocument/2006/relationships/font" Target="fonts/Carlito-regular.fntdata"/><Relationship Id="rId21" Type="http://schemas.openxmlformats.org/officeDocument/2006/relationships/font" Target="fonts/Tinos-boldItalic.fntdata"/><Relationship Id="rId24" Type="http://schemas.openxmlformats.org/officeDocument/2006/relationships/font" Target="fonts/Carlito-italic.fntdata"/><Relationship Id="rId23" Type="http://schemas.openxmlformats.org/officeDocument/2006/relationships/font" Target="fonts/Carli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Carl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Tinos-bold.fntdata"/><Relationship Id="rId18" Type="http://schemas.openxmlformats.org/officeDocument/2006/relationships/font" Target="fonts/Tino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5" name="Shape 15"/>
        <p:cNvGrpSpPr/>
        <p:nvPr/>
      </p:nvGrpSpPr>
      <p:grpSpPr>
        <a:xfrm>
          <a:off x="0" y="0"/>
          <a:ext cx="0" cy="0"/>
          <a:chOff x="0" y="0"/>
          <a:chExt cx="0" cy="0"/>
        </a:xfrm>
      </p:grpSpPr>
      <p:sp>
        <p:nvSpPr>
          <p:cNvPr id="16" name="Google Shape;16;p3"/>
          <p:cNvSpPr/>
          <p:nvPr/>
        </p:nvSpPr>
        <p:spPr>
          <a:xfrm>
            <a:off x="3223200" y="1136225"/>
            <a:ext cx="2697600" cy="463500"/>
          </a:xfrm>
          <a:prstGeom prst="rect">
            <a:avLst/>
          </a:prstGeom>
          <a:noFill/>
          <a:ln>
            <a:noFill/>
          </a:ln>
        </p:spPr>
        <p:txBody>
          <a:bodyPr anchorCtr="0" anchor="t" bIns="0" lIns="0" spcFirstLastPara="1" rIns="0" wrap="square" tIns="0">
            <a:noAutofit/>
          </a:bodyPr>
          <a:lstStyle/>
          <a:p>
            <a:pPr indent="0" lvl="0" marL="0" marR="0" rtl="0" algn="ctr">
              <a:lnSpc>
                <a:spcPct val="110031"/>
              </a:lnSpc>
              <a:spcBef>
                <a:spcPts val="0"/>
              </a:spcBef>
              <a:spcAft>
                <a:spcPts val="0"/>
              </a:spcAft>
              <a:buClr>
                <a:srgbClr val="1F1F1F"/>
              </a:buClr>
              <a:buSzPts val="1575"/>
              <a:buFont typeface="Tinos"/>
              <a:buNone/>
            </a:pPr>
            <a:r>
              <a:rPr b="1" i="0" lang="en-US" sz="2575" u="none" cap="none" strike="noStrike">
                <a:solidFill>
                  <a:srgbClr val="1F1F1F"/>
                </a:solidFill>
                <a:latin typeface="Tinos"/>
                <a:ea typeface="Tinos"/>
                <a:cs typeface="Tinos"/>
                <a:sym typeface="Tinos"/>
              </a:rPr>
              <a:t>IILM University</a:t>
            </a:r>
            <a:endParaRPr b="0" i="0" sz="2575" u="none" cap="none" strike="noStrike">
              <a:solidFill>
                <a:schemeClr val="dk1"/>
              </a:solidFill>
              <a:latin typeface="Calibri"/>
              <a:ea typeface="Calibri"/>
              <a:cs typeface="Calibri"/>
              <a:sym typeface="Calibri"/>
            </a:endParaRPr>
          </a:p>
        </p:txBody>
      </p:sp>
      <p:sp>
        <p:nvSpPr>
          <p:cNvPr id="17" name="Google Shape;17;p3"/>
          <p:cNvSpPr/>
          <p:nvPr/>
        </p:nvSpPr>
        <p:spPr>
          <a:xfrm>
            <a:off x="3566700" y="1535798"/>
            <a:ext cx="2010600" cy="15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A8A8A"/>
              </a:buClr>
              <a:buSzPts val="800"/>
              <a:buFont typeface="Carlito"/>
              <a:buNone/>
            </a:pPr>
            <a:r>
              <a:rPr b="0" i="0" lang="en-US" sz="1000" u="none" cap="none" strike="noStrike">
                <a:solidFill>
                  <a:srgbClr val="8A8A8A"/>
                </a:solidFill>
                <a:latin typeface="Carlito"/>
                <a:ea typeface="Carlito"/>
                <a:cs typeface="Carlito"/>
                <a:sym typeface="Carlito"/>
              </a:rPr>
              <a:t>GREATER NOIDA, U.P.</a:t>
            </a:r>
            <a:endParaRPr b="0" i="0" sz="1000" u="none" cap="none" strike="noStrike">
              <a:solidFill>
                <a:schemeClr val="dk1"/>
              </a:solidFill>
              <a:latin typeface="Calibri"/>
              <a:ea typeface="Calibri"/>
              <a:cs typeface="Calibri"/>
              <a:sym typeface="Calibri"/>
            </a:endParaRPr>
          </a:p>
        </p:txBody>
      </p:sp>
      <p:sp>
        <p:nvSpPr>
          <p:cNvPr id="18" name="Google Shape;18;p3"/>
          <p:cNvSpPr/>
          <p:nvPr/>
        </p:nvSpPr>
        <p:spPr>
          <a:xfrm>
            <a:off x="3411882" y="1870323"/>
            <a:ext cx="2320013" cy="11970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INTERNSHIP PRESENTATION</a:t>
            </a:r>
            <a:endParaRPr b="0" i="0" sz="800" u="none" cap="none" strike="noStrike">
              <a:solidFill>
                <a:schemeClr val="dk1"/>
              </a:solidFill>
              <a:latin typeface="Calibri"/>
              <a:ea typeface="Calibri"/>
              <a:cs typeface="Calibri"/>
              <a:sym typeface="Calibri"/>
            </a:endParaRPr>
          </a:p>
        </p:txBody>
      </p:sp>
      <p:sp>
        <p:nvSpPr>
          <p:cNvPr id="19" name="Google Shape;19;p3"/>
          <p:cNvSpPr/>
          <p:nvPr/>
        </p:nvSpPr>
        <p:spPr>
          <a:xfrm>
            <a:off x="4343288" y="2170361"/>
            <a:ext cx="457200" cy="14288"/>
          </a:xfrm>
          <a:prstGeom prst="rect">
            <a:avLst/>
          </a:prstGeom>
          <a:solidFill>
            <a:srgbClr val="1E4D4A"/>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 name="Google Shape;20;p3"/>
          <p:cNvSpPr/>
          <p:nvPr/>
        </p:nvSpPr>
        <p:spPr>
          <a:xfrm>
            <a:off x="274320" y="2341811"/>
            <a:ext cx="8595248" cy="780687"/>
          </a:xfrm>
          <a:prstGeom prst="rect">
            <a:avLst/>
          </a:prstGeom>
          <a:noFill/>
          <a:ln>
            <a:noFill/>
          </a:ln>
        </p:spPr>
        <p:txBody>
          <a:bodyPr anchorCtr="0" anchor="t" bIns="0" lIns="0" spcFirstLastPara="1" rIns="0" wrap="square" tIns="0">
            <a:noAutofit/>
          </a:bodyPr>
          <a:lstStyle/>
          <a:p>
            <a:pPr indent="0" lvl="0" marL="0" marR="0" rtl="0" algn="ctr">
              <a:lnSpc>
                <a:spcPct val="114989"/>
              </a:lnSpc>
              <a:spcBef>
                <a:spcPts val="0"/>
              </a:spcBef>
              <a:spcAft>
                <a:spcPts val="0"/>
              </a:spcAft>
              <a:buClr>
                <a:srgbClr val="1F1F1F"/>
              </a:buClr>
              <a:buSzPts val="2475"/>
              <a:buFont typeface="Tinos"/>
              <a:buNone/>
            </a:pPr>
            <a:r>
              <a:rPr b="1" i="0" lang="en-US" sz="2475" u="none" cap="none" strike="noStrike">
                <a:solidFill>
                  <a:srgbClr val="1F1F1F"/>
                </a:solidFill>
                <a:latin typeface="Tinos"/>
                <a:ea typeface="Tinos"/>
                <a:cs typeface="Tinos"/>
                <a:sym typeface="Tinos"/>
              </a:rPr>
              <a:t>AI-Powered Creative Generation Platform</a:t>
            </a:r>
            <a:endParaRPr b="0" i="0" sz="2475" u="none" cap="none" strike="noStrike">
              <a:solidFill>
                <a:schemeClr val="dk1"/>
              </a:solidFill>
              <a:latin typeface="Calibri"/>
              <a:ea typeface="Calibri"/>
              <a:cs typeface="Calibri"/>
              <a:sym typeface="Calibri"/>
            </a:endParaRPr>
          </a:p>
          <a:p>
            <a:pPr indent="0" lvl="0" marL="0" marR="0" rtl="0" algn="ctr">
              <a:lnSpc>
                <a:spcPct val="114989"/>
              </a:lnSpc>
              <a:spcBef>
                <a:spcPts val="0"/>
              </a:spcBef>
              <a:spcAft>
                <a:spcPts val="0"/>
              </a:spcAft>
              <a:buClr>
                <a:srgbClr val="1F1F1F"/>
              </a:buClr>
              <a:buSzPts val="2475"/>
              <a:buFont typeface="Tinos"/>
              <a:buNone/>
            </a:pPr>
            <a:r>
              <a:rPr b="1" i="0" lang="en-US" sz="2475" u="none" cap="none" strike="noStrike">
                <a:solidFill>
                  <a:srgbClr val="1F1F1F"/>
                </a:solidFill>
                <a:latin typeface="Tinos"/>
                <a:ea typeface="Tinos"/>
                <a:cs typeface="Tinos"/>
                <a:sym typeface="Tinos"/>
              </a:rPr>
              <a:t>for Jewellery Marketing</a:t>
            </a:r>
            <a:endParaRPr b="0" i="0" sz="2475" u="none" cap="none" strike="noStrike">
              <a:solidFill>
                <a:schemeClr val="dk1"/>
              </a:solidFill>
              <a:latin typeface="Calibri"/>
              <a:ea typeface="Calibri"/>
              <a:cs typeface="Calibri"/>
              <a:sym typeface="Calibri"/>
            </a:endParaRPr>
          </a:p>
        </p:txBody>
      </p:sp>
      <p:sp>
        <p:nvSpPr>
          <p:cNvPr id="21" name="Google Shape;21;p3"/>
          <p:cNvSpPr/>
          <p:nvPr/>
        </p:nvSpPr>
        <p:spPr>
          <a:xfrm>
            <a:off x="1857263" y="3221831"/>
            <a:ext cx="5429250" cy="393478"/>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4A4A4A"/>
              </a:buClr>
              <a:buSzPts val="956"/>
              <a:buFont typeface="Tinos"/>
              <a:buNone/>
            </a:pPr>
            <a:r>
              <a:rPr b="0" i="1" lang="en-US" sz="956" u="none" cap="none" strike="noStrike">
                <a:solidFill>
                  <a:srgbClr val="4A4A4A"/>
                </a:solidFill>
                <a:latin typeface="Tinos"/>
                <a:ea typeface="Tinos"/>
                <a:cs typeface="Tinos"/>
                <a:sym typeface="Tinos"/>
              </a:rPr>
              <a:t>A three-month internship report on the Prism platform — building multi-modal generative AI pipelines that preserve product identity.</a:t>
            </a:r>
            <a:endParaRPr b="0" i="0" sz="956" u="none" cap="none" strike="noStrike">
              <a:solidFill>
                <a:schemeClr val="dk1"/>
              </a:solidFill>
              <a:latin typeface="Calibri"/>
              <a:ea typeface="Calibri"/>
              <a:cs typeface="Calibri"/>
              <a:sym typeface="Calibri"/>
            </a:endParaRPr>
          </a:p>
        </p:txBody>
      </p:sp>
      <p:cxnSp>
        <p:nvCxnSpPr>
          <p:cNvPr id="22" name="Google Shape;22;p3"/>
          <p:cNvCxnSpPr/>
          <p:nvPr/>
        </p:nvCxnSpPr>
        <p:spPr>
          <a:xfrm>
            <a:off x="1428750" y="3739753"/>
            <a:ext cx="6286500" cy="0"/>
          </a:xfrm>
          <a:prstGeom prst="straightConnector1">
            <a:avLst/>
          </a:prstGeom>
          <a:noFill/>
          <a:ln cap="flat" cmpd="sng" w="9525">
            <a:solidFill>
              <a:srgbClr val="2A2A2A"/>
            </a:solidFill>
            <a:prstDash val="solid"/>
            <a:round/>
            <a:headEnd len="sm" w="sm" type="none"/>
            <a:tailEnd len="sm" w="sm" type="none"/>
          </a:ln>
        </p:spPr>
      </p:cxnSp>
      <p:sp>
        <p:nvSpPr>
          <p:cNvPr id="23" name="Google Shape;23;p3"/>
          <p:cNvSpPr/>
          <p:nvPr/>
        </p:nvSpPr>
        <p:spPr>
          <a:xfrm>
            <a:off x="1857275" y="3864576"/>
            <a:ext cx="3863400" cy="12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800"/>
              <a:buFont typeface="Carlito"/>
              <a:buNone/>
            </a:pPr>
            <a:r>
              <a:rPr b="0" i="0" lang="en-US" sz="800" u="none" cap="none" strike="noStrike">
                <a:solidFill>
                  <a:srgbClr val="8A8A8A"/>
                </a:solidFill>
                <a:latin typeface="Carlito"/>
                <a:ea typeface="Carlito"/>
                <a:cs typeface="Carlito"/>
                <a:sym typeface="Carlito"/>
              </a:rPr>
              <a:t>STUDENT NAME</a:t>
            </a:r>
            <a:endParaRPr b="0" i="0" sz="800" u="none" cap="none" strike="noStrike">
              <a:solidFill>
                <a:schemeClr val="dk1"/>
              </a:solidFill>
              <a:latin typeface="Calibri"/>
              <a:ea typeface="Calibri"/>
              <a:cs typeface="Calibri"/>
              <a:sym typeface="Calibri"/>
            </a:endParaRPr>
          </a:p>
        </p:txBody>
      </p:sp>
      <p:sp>
        <p:nvSpPr>
          <p:cNvPr id="24" name="Google Shape;24;p3"/>
          <p:cNvSpPr/>
          <p:nvPr/>
        </p:nvSpPr>
        <p:spPr>
          <a:xfrm>
            <a:off x="1857275" y="3964588"/>
            <a:ext cx="3449400" cy="1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956"/>
              <a:buFont typeface="Tinos"/>
              <a:buNone/>
            </a:pPr>
            <a:r>
              <a:rPr b="0" i="0" lang="en-US" sz="956" u="none" cap="none" strike="noStrike">
                <a:solidFill>
                  <a:srgbClr val="1F1F1F"/>
                </a:solidFill>
                <a:latin typeface="Tinos"/>
                <a:ea typeface="Tinos"/>
                <a:cs typeface="Tinos"/>
                <a:sym typeface="Tinos"/>
              </a:rPr>
              <a:t>Kunal Sharma</a:t>
            </a:r>
            <a:endParaRPr b="0" i="0" sz="956" u="none" cap="none" strike="noStrike">
              <a:solidFill>
                <a:schemeClr val="dk1"/>
              </a:solidFill>
              <a:latin typeface="Calibri"/>
              <a:ea typeface="Calibri"/>
              <a:cs typeface="Calibri"/>
              <a:sym typeface="Calibri"/>
            </a:endParaRPr>
          </a:p>
        </p:txBody>
      </p:sp>
      <p:sp>
        <p:nvSpPr>
          <p:cNvPr id="25" name="Google Shape;25;p3"/>
          <p:cNvSpPr/>
          <p:nvPr/>
        </p:nvSpPr>
        <p:spPr>
          <a:xfrm>
            <a:off x="5577300" y="3860901"/>
            <a:ext cx="2943300" cy="12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800"/>
              <a:buFont typeface="Carlito"/>
              <a:buNone/>
            </a:pPr>
            <a:r>
              <a:rPr b="0" i="0" lang="en-US" sz="800" u="none" cap="none" strike="noStrike">
                <a:solidFill>
                  <a:srgbClr val="8A8A8A"/>
                </a:solidFill>
                <a:latin typeface="Carlito"/>
                <a:ea typeface="Carlito"/>
                <a:cs typeface="Carlito"/>
                <a:sym typeface="Carlito"/>
              </a:rPr>
              <a:t>ENROLLMENT NUMBER</a:t>
            </a:r>
            <a:endParaRPr b="0" i="0" sz="800" u="none" cap="none" strike="noStrike">
              <a:solidFill>
                <a:schemeClr val="dk1"/>
              </a:solidFill>
              <a:latin typeface="Calibri"/>
              <a:ea typeface="Calibri"/>
              <a:cs typeface="Calibri"/>
              <a:sym typeface="Calibri"/>
            </a:endParaRPr>
          </a:p>
        </p:txBody>
      </p:sp>
      <p:sp>
        <p:nvSpPr>
          <p:cNvPr id="26" name="Google Shape;26;p3"/>
          <p:cNvSpPr/>
          <p:nvPr/>
        </p:nvSpPr>
        <p:spPr>
          <a:xfrm>
            <a:off x="5577300" y="3960913"/>
            <a:ext cx="2943300" cy="12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CS-2341057</a:t>
            </a:r>
            <a:endParaRPr b="0" i="0" sz="800" u="none" cap="none" strike="noStrike">
              <a:solidFill>
                <a:schemeClr val="dk1"/>
              </a:solidFill>
              <a:latin typeface="Calibri"/>
              <a:ea typeface="Calibri"/>
              <a:cs typeface="Calibri"/>
              <a:sym typeface="Calibri"/>
            </a:endParaRPr>
          </a:p>
        </p:txBody>
      </p:sp>
      <p:sp>
        <p:nvSpPr>
          <p:cNvPr id="27" name="Google Shape;27;p3"/>
          <p:cNvSpPr/>
          <p:nvPr/>
        </p:nvSpPr>
        <p:spPr>
          <a:xfrm>
            <a:off x="1857275" y="4207476"/>
            <a:ext cx="3863400" cy="12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800"/>
              <a:buFont typeface="Carlito"/>
              <a:buNone/>
            </a:pPr>
            <a:r>
              <a:rPr b="0" i="0" lang="en-US" sz="800" u="none" cap="none" strike="noStrike">
                <a:solidFill>
                  <a:srgbClr val="8A8A8A"/>
                </a:solidFill>
                <a:latin typeface="Carlito"/>
                <a:ea typeface="Carlito"/>
                <a:cs typeface="Carlito"/>
                <a:sym typeface="Carlito"/>
              </a:rPr>
              <a:t>PROGRAM &amp; SEMESTER</a:t>
            </a:r>
            <a:endParaRPr b="0" i="0" sz="800" u="none" cap="none" strike="noStrike">
              <a:solidFill>
                <a:schemeClr val="dk1"/>
              </a:solidFill>
              <a:latin typeface="Calibri"/>
              <a:ea typeface="Calibri"/>
              <a:cs typeface="Calibri"/>
              <a:sym typeface="Calibri"/>
            </a:endParaRPr>
          </a:p>
        </p:txBody>
      </p:sp>
      <p:sp>
        <p:nvSpPr>
          <p:cNvPr id="28" name="Google Shape;28;p3"/>
          <p:cNvSpPr/>
          <p:nvPr/>
        </p:nvSpPr>
        <p:spPr>
          <a:xfrm>
            <a:off x="1857275" y="4307488"/>
            <a:ext cx="3090300" cy="12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Arial"/>
              <a:buNone/>
            </a:pPr>
            <a:r>
              <a:rPr b="0" i="0" lang="en-US" sz="800" u="none" cap="none" strike="noStrike">
                <a:solidFill>
                  <a:srgbClr val="1F1F1F"/>
                </a:solidFill>
                <a:latin typeface="Arial"/>
                <a:ea typeface="Arial"/>
                <a:cs typeface="Arial"/>
                <a:sym typeface="Arial"/>
              </a:rPr>
              <a:t>B.Tech CSE · 7th Semester</a:t>
            </a:r>
            <a:endParaRPr b="0" i="0" sz="800" u="none" cap="none" strike="noStrike">
              <a:solidFill>
                <a:schemeClr val="dk1"/>
              </a:solidFill>
              <a:latin typeface="Calibri"/>
              <a:ea typeface="Calibri"/>
              <a:cs typeface="Calibri"/>
              <a:sym typeface="Calibri"/>
            </a:endParaRPr>
          </a:p>
        </p:txBody>
      </p:sp>
      <p:sp>
        <p:nvSpPr>
          <p:cNvPr id="29" name="Google Shape;29;p3"/>
          <p:cNvSpPr/>
          <p:nvPr/>
        </p:nvSpPr>
        <p:spPr>
          <a:xfrm>
            <a:off x="5577300" y="4203801"/>
            <a:ext cx="2943300" cy="12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800"/>
              <a:buFont typeface="Carlito"/>
              <a:buNone/>
            </a:pPr>
            <a:r>
              <a:rPr b="0" i="0" lang="en-US" sz="800" u="none" cap="none" strike="noStrike">
                <a:solidFill>
                  <a:srgbClr val="8A8A8A"/>
                </a:solidFill>
                <a:latin typeface="Carlito"/>
                <a:ea typeface="Carlito"/>
                <a:cs typeface="Carlito"/>
                <a:sym typeface="Carlito"/>
              </a:rPr>
              <a:t>BATCH</a:t>
            </a:r>
            <a:endParaRPr b="0" i="0" sz="800" u="none" cap="none" strike="noStrike">
              <a:solidFill>
                <a:schemeClr val="dk1"/>
              </a:solidFill>
              <a:latin typeface="Calibri"/>
              <a:ea typeface="Calibri"/>
              <a:cs typeface="Calibri"/>
              <a:sym typeface="Calibri"/>
            </a:endParaRPr>
          </a:p>
        </p:txBody>
      </p:sp>
      <p:sp>
        <p:nvSpPr>
          <p:cNvPr id="30" name="Google Shape;30;p3"/>
          <p:cNvSpPr/>
          <p:nvPr/>
        </p:nvSpPr>
        <p:spPr>
          <a:xfrm>
            <a:off x="5577300" y="4303813"/>
            <a:ext cx="2943300" cy="12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Arial"/>
              <a:buNone/>
            </a:pPr>
            <a:r>
              <a:rPr b="0" i="0" lang="en-US" sz="800" u="none" cap="none" strike="noStrike">
                <a:solidFill>
                  <a:srgbClr val="1F1F1F"/>
                </a:solidFill>
                <a:latin typeface="Arial"/>
                <a:ea typeface="Arial"/>
                <a:cs typeface="Arial"/>
                <a:sym typeface="Arial"/>
              </a:rPr>
              <a:t>2026–27</a:t>
            </a:r>
            <a:endParaRPr b="0" i="0" sz="800" u="none" cap="none" strike="noStrike">
              <a:solidFill>
                <a:schemeClr val="dk1"/>
              </a:solidFill>
              <a:latin typeface="Calibri"/>
              <a:ea typeface="Calibri"/>
              <a:cs typeface="Calibri"/>
              <a:sym typeface="Calibri"/>
            </a:endParaRPr>
          </a:p>
        </p:txBody>
      </p:sp>
      <p:sp>
        <p:nvSpPr>
          <p:cNvPr id="31" name="Google Shape;31;p3"/>
          <p:cNvSpPr/>
          <p:nvPr/>
        </p:nvSpPr>
        <p:spPr>
          <a:xfrm>
            <a:off x="1204700" y="4550363"/>
            <a:ext cx="6396300" cy="12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A8A8A"/>
              </a:buClr>
              <a:buSzPts val="800"/>
              <a:buFont typeface="Carlito"/>
              <a:buNone/>
            </a:pPr>
            <a:r>
              <a:rPr b="0" i="0" lang="en-US" sz="800" u="none" cap="none" strike="noStrike">
                <a:solidFill>
                  <a:srgbClr val="8A8A8A"/>
                </a:solidFill>
                <a:latin typeface="Carlito"/>
                <a:ea typeface="Carlito"/>
                <a:cs typeface="Carlito"/>
                <a:sym typeface="Carlito"/>
              </a:rPr>
              <a:t>ORGANIZATION OF INTERNSHIP</a:t>
            </a:r>
            <a:endParaRPr b="0" i="0" sz="800" u="none" cap="none" strike="noStrike">
              <a:solidFill>
                <a:schemeClr val="dk1"/>
              </a:solidFill>
              <a:latin typeface="Calibri"/>
              <a:ea typeface="Calibri"/>
              <a:cs typeface="Calibri"/>
              <a:sym typeface="Calibri"/>
            </a:endParaRPr>
          </a:p>
        </p:txBody>
      </p:sp>
      <p:sp>
        <p:nvSpPr>
          <p:cNvPr id="32" name="Google Shape;32;p3"/>
          <p:cNvSpPr/>
          <p:nvPr/>
        </p:nvSpPr>
        <p:spPr>
          <a:xfrm>
            <a:off x="1204700" y="4650375"/>
            <a:ext cx="6396300" cy="142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1F1F"/>
              </a:buClr>
              <a:buSzPts val="956"/>
              <a:buFont typeface="Tinos"/>
              <a:buNone/>
            </a:pPr>
            <a:r>
              <a:rPr b="0" i="0" lang="en-US" sz="956" u="none" cap="none" strike="noStrike">
                <a:solidFill>
                  <a:srgbClr val="1F1F1F"/>
                </a:solidFill>
                <a:latin typeface="Tinos"/>
                <a:ea typeface="Tinos"/>
                <a:cs typeface="Tinos"/>
                <a:sym typeface="Tinos"/>
              </a:rPr>
              <a:t>Intelytica Business Analytics Pvt. Ltd.</a:t>
            </a:r>
            <a:endParaRPr b="0" i="0" sz="956" u="none" cap="none" strike="noStrike">
              <a:solidFill>
                <a:schemeClr val="dk1"/>
              </a:solidFill>
              <a:latin typeface="Calibri"/>
              <a:ea typeface="Calibri"/>
              <a:cs typeface="Calibri"/>
              <a:sym typeface="Calibri"/>
            </a:endParaRPr>
          </a:p>
        </p:txBody>
      </p:sp>
      <p:pic>
        <p:nvPicPr>
          <p:cNvPr id="33" name="Google Shape;33;p3"/>
          <p:cNvPicPr preferRelativeResize="0"/>
          <p:nvPr/>
        </p:nvPicPr>
        <p:blipFill>
          <a:blip r:embed="rId3">
            <a:alphaModFix/>
          </a:blip>
          <a:stretch>
            <a:fillRect/>
          </a:stretch>
        </p:blipFill>
        <p:spPr>
          <a:xfrm>
            <a:off x="134327" y="176675"/>
            <a:ext cx="2344392" cy="780701"/>
          </a:xfrm>
          <a:prstGeom prst="rect">
            <a:avLst/>
          </a:prstGeom>
          <a:noFill/>
          <a:ln>
            <a:noFill/>
          </a:ln>
        </p:spPr>
      </p:pic>
      <p:pic>
        <p:nvPicPr>
          <p:cNvPr id="34" name="Google Shape;34;p3"/>
          <p:cNvPicPr preferRelativeResize="0"/>
          <p:nvPr/>
        </p:nvPicPr>
        <p:blipFill rotWithShape="1">
          <a:blip r:embed="rId4">
            <a:alphaModFix/>
          </a:blip>
          <a:srcRect b="11390" l="6831" r="13558" t="11127"/>
          <a:stretch/>
        </p:blipFill>
        <p:spPr>
          <a:xfrm>
            <a:off x="8058376" y="120137"/>
            <a:ext cx="918350" cy="8937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9" name="Shape 39"/>
        <p:cNvGrpSpPr/>
        <p:nvPr/>
      </p:nvGrpSpPr>
      <p:grpSpPr>
        <a:xfrm>
          <a:off x="0" y="0"/>
          <a:ext cx="0" cy="0"/>
          <a:chOff x="0" y="0"/>
          <a:chExt cx="0" cy="0"/>
        </a:xfrm>
      </p:grpSpPr>
      <p:cxnSp>
        <p:nvCxnSpPr>
          <p:cNvPr id="40" name="Google Shape;40;p4"/>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41" name="Google Shape;41;p4"/>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42" name="Google Shape;42;p4"/>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02 / 12</a:t>
            </a:r>
            <a:endParaRPr b="0" i="0" sz="800" u="none" cap="none" strike="noStrike">
              <a:solidFill>
                <a:schemeClr val="dk1"/>
              </a:solidFill>
              <a:latin typeface="Calibri"/>
              <a:ea typeface="Calibri"/>
              <a:cs typeface="Calibri"/>
              <a:sym typeface="Calibri"/>
            </a:endParaRPr>
          </a:p>
        </p:txBody>
      </p:sp>
      <p:sp>
        <p:nvSpPr>
          <p:cNvPr id="43" name="Google Shape;43;p4"/>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IN THIS PRESENTATION</a:t>
            </a:r>
            <a:endParaRPr b="0" i="0" sz="800" u="none" cap="none" strike="noStrike">
              <a:solidFill>
                <a:schemeClr val="dk1"/>
              </a:solidFill>
              <a:latin typeface="Calibri"/>
              <a:ea typeface="Calibri"/>
              <a:cs typeface="Calibri"/>
              <a:sym typeface="Calibri"/>
            </a:endParaRPr>
          </a:p>
        </p:txBody>
      </p:sp>
      <p:sp>
        <p:nvSpPr>
          <p:cNvPr id="44" name="Google Shape;44;p4"/>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Agenda</a:t>
            </a:r>
            <a:endParaRPr b="0" i="0" sz="2363" u="none" cap="none" strike="noStrike">
              <a:solidFill>
                <a:schemeClr val="dk1"/>
              </a:solidFill>
              <a:latin typeface="Calibri"/>
              <a:ea typeface="Calibri"/>
              <a:cs typeface="Calibri"/>
              <a:sym typeface="Calibri"/>
            </a:endParaRPr>
          </a:p>
        </p:txBody>
      </p:sp>
      <p:sp>
        <p:nvSpPr>
          <p:cNvPr id="45" name="Google Shape;45;p4"/>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Twelve slides, organized as: the host organisation, the product, the problem it solves, the architecture, the intern's specific contributions, the methodology, and the takeaways.</a:t>
            </a:r>
            <a:endParaRPr b="0" i="0" sz="1069" u="none" cap="none" strike="noStrike">
              <a:solidFill>
                <a:schemeClr val="dk1"/>
              </a:solidFill>
              <a:latin typeface="Calibri"/>
              <a:ea typeface="Calibri"/>
              <a:cs typeface="Calibri"/>
              <a:sym typeface="Calibri"/>
            </a:endParaRPr>
          </a:p>
        </p:txBody>
      </p:sp>
      <p:cxnSp>
        <p:nvCxnSpPr>
          <p:cNvPr id="46" name="Google Shape;46;p4"/>
          <p:cNvCxnSpPr/>
          <p:nvPr/>
        </p:nvCxnSpPr>
        <p:spPr>
          <a:xfrm>
            <a:off x="514350" y="2070125"/>
            <a:ext cx="2533576" cy="0"/>
          </a:xfrm>
          <a:prstGeom prst="straightConnector1">
            <a:avLst/>
          </a:prstGeom>
          <a:noFill/>
          <a:ln cap="flat" cmpd="sng" w="9525">
            <a:solidFill>
              <a:srgbClr val="1F1F1F"/>
            </a:solidFill>
            <a:prstDash val="solid"/>
            <a:round/>
            <a:headEnd len="sm" w="sm" type="none"/>
            <a:tailEnd len="sm" w="sm" type="none"/>
          </a:ln>
        </p:spPr>
      </p:cxnSp>
      <p:sp>
        <p:nvSpPr>
          <p:cNvPr id="47" name="Google Shape;47;p4"/>
          <p:cNvSpPr/>
          <p:nvPr/>
        </p:nvSpPr>
        <p:spPr>
          <a:xfrm>
            <a:off x="514350" y="2173709"/>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01</a:t>
            </a:r>
            <a:endParaRPr b="0" i="0" sz="800" u="none" cap="none" strike="noStrike">
              <a:solidFill>
                <a:schemeClr val="dk1"/>
              </a:solidFill>
              <a:latin typeface="Calibri"/>
              <a:ea typeface="Calibri"/>
              <a:cs typeface="Calibri"/>
              <a:sym typeface="Calibri"/>
            </a:endParaRPr>
          </a:p>
        </p:txBody>
      </p:sp>
      <p:sp>
        <p:nvSpPr>
          <p:cNvPr id="48" name="Google Shape;48;p4"/>
          <p:cNvSpPr/>
          <p:nvPr/>
        </p:nvSpPr>
        <p:spPr>
          <a:xfrm>
            <a:off x="514350" y="2309440"/>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Cover &amp; identification</a:t>
            </a:r>
            <a:endParaRPr b="0" i="0" sz="1069" u="none" cap="none" strike="noStrike">
              <a:solidFill>
                <a:schemeClr val="dk1"/>
              </a:solidFill>
              <a:latin typeface="Calibri"/>
              <a:ea typeface="Calibri"/>
              <a:cs typeface="Calibri"/>
              <a:sym typeface="Calibri"/>
            </a:endParaRPr>
          </a:p>
        </p:txBody>
      </p:sp>
      <p:sp>
        <p:nvSpPr>
          <p:cNvPr id="49" name="Google Shape;49;p4"/>
          <p:cNvSpPr/>
          <p:nvPr/>
        </p:nvSpPr>
        <p:spPr>
          <a:xfrm>
            <a:off x="514350" y="2515158"/>
            <a:ext cx="2533576" cy="128588"/>
          </a:xfrm>
          <a:prstGeom prst="rect">
            <a:avLst/>
          </a:prstGeom>
          <a:noFill/>
          <a:ln>
            <a:noFill/>
          </a:ln>
        </p:spPr>
        <p:txBody>
          <a:bodyPr anchorCtr="0" anchor="t" bIns="0" lIns="0" spcFirstLastPara="1" rIns="0" wrap="square" tIns="0">
            <a:noAutofit/>
          </a:bodyPr>
          <a:lstStyle/>
          <a:p>
            <a:pPr indent="0" lvl="0" marL="0" marR="0" rtl="0" algn="l">
              <a:lnSpc>
                <a:spcPct val="150074"/>
              </a:lnSpc>
              <a:spcBef>
                <a:spcPts val="0"/>
              </a:spcBef>
              <a:spcAft>
                <a:spcPts val="0"/>
              </a:spcAft>
              <a:buClr>
                <a:srgbClr val="4A4A4A"/>
              </a:buClr>
              <a:buSzPts val="675"/>
              <a:buFont typeface="Carlito"/>
              <a:buNone/>
            </a:pPr>
            <a:r>
              <a:rPr b="0" i="0" lang="en-US" sz="675" u="none" cap="none" strike="noStrike">
                <a:solidFill>
                  <a:srgbClr val="4A4A4A"/>
                </a:solidFill>
                <a:latin typeface="Carlito"/>
                <a:ea typeface="Carlito"/>
                <a:cs typeface="Carlito"/>
                <a:sym typeface="Carlito"/>
              </a:rPr>
              <a:t>Student, program, organisation, and internship topic.</a:t>
            </a:r>
            <a:endParaRPr b="0" i="0" sz="675" u="none" cap="none" strike="noStrike">
              <a:solidFill>
                <a:schemeClr val="dk1"/>
              </a:solidFill>
              <a:latin typeface="Calibri"/>
              <a:ea typeface="Calibri"/>
              <a:cs typeface="Calibri"/>
              <a:sym typeface="Calibri"/>
            </a:endParaRPr>
          </a:p>
        </p:txBody>
      </p:sp>
      <p:cxnSp>
        <p:nvCxnSpPr>
          <p:cNvPr id="50" name="Google Shape;50;p4"/>
          <p:cNvCxnSpPr/>
          <p:nvPr/>
        </p:nvCxnSpPr>
        <p:spPr>
          <a:xfrm>
            <a:off x="3305101" y="2070125"/>
            <a:ext cx="2533687" cy="0"/>
          </a:xfrm>
          <a:prstGeom prst="straightConnector1">
            <a:avLst/>
          </a:prstGeom>
          <a:noFill/>
          <a:ln cap="flat" cmpd="sng" w="9525">
            <a:solidFill>
              <a:srgbClr val="1F1F1F"/>
            </a:solidFill>
            <a:prstDash val="solid"/>
            <a:round/>
            <a:headEnd len="sm" w="sm" type="none"/>
            <a:tailEnd len="sm" w="sm" type="none"/>
          </a:ln>
        </p:spPr>
      </p:cxnSp>
      <p:sp>
        <p:nvSpPr>
          <p:cNvPr id="51" name="Google Shape;51;p4"/>
          <p:cNvSpPr/>
          <p:nvPr/>
        </p:nvSpPr>
        <p:spPr>
          <a:xfrm>
            <a:off x="3305101" y="2173709"/>
            <a:ext cx="2533687"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02</a:t>
            </a:r>
            <a:endParaRPr b="0" i="0" sz="800" u="none" cap="none" strike="noStrike">
              <a:solidFill>
                <a:schemeClr val="dk1"/>
              </a:solidFill>
              <a:latin typeface="Calibri"/>
              <a:ea typeface="Calibri"/>
              <a:cs typeface="Calibri"/>
              <a:sym typeface="Calibri"/>
            </a:endParaRPr>
          </a:p>
        </p:txBody>
      </p:sp>
      <p:sp>
        <p:nvSpPr>
          <p:cNvPr id="52" name="Google Shape;52;p4"/>
          <p:cNvSpPr/>
          <p:nvPr/>
        </p:nvSpPr>
        <p:spPr>
          <a:xfrm>
            <a:off x="3305101" y="2309440"/>
            <a:ext cx="2533687"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Agenda</a:t>
            </a:r>
            <a:endParaRPr b="0" i="0" sz="1069" u="none" cap="none" strike="noStrike">
              <a:solidFill>
                <a:schemeClr val="dk1"/>
              </a:solidFill>
              <a:latin typeface="Calibri"/>
              <a:ea typeface="Calibri"/>
              <a:cs typeface="Calibri"/>
              <a:sym typeface="Calibri"/>
            </a:endParaRPr>
          </a:p>
        </p:txBody>
      </p:sp>
      <p:sp>
        <p:nvSpPr>
          <p:cNvPr id="53" name="Google Shape;53;p4"/>
          <p:cNvSpPr/>
          <p:nvPr/>
        </p:nvSpPr>
        <p:spPr>
          <a:xfrm>
            <a:off x="3305101" y="2515158"/>
            <a:ext cx="2533687"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This slide.</a:t>
            </a:r>
            <a:endParaRPr b="0" i="0" sz="800" u="none" cap="none" strike="noStrike">
              <a:solidFill>
                <a:schemeClr val="dk1"/>
              </a:solidFill>
              <a:latin typeface="Calibri"/>
              <a:ea typeface="Calibri"/>
              <a:cs typeface="Calibri"/>
              <a:sym typeface="Calibri"/>
            </a:endParaRPr>
          </a:p>
        </p:txBody>
      </p:sp>
      <p:cxnSp>
        <p:nvCxnSpPr>
          <p:cNvPr id="54" name="Google Shape;54;p4"/>
          <p:cNvCxnSpPr/>
          <p:nvPr/>
        </p:nvCxnSpPr>
        <p:spPr>
          <a:xfrm>
            <a:off x="6095963" y="2070125"/>
            <a:ext cx="2533576" cy="0"/>
          </a:xfrm>
          <a:prstGeom prst="straightConnector1">
            <a:avLst/>
          </a:prstGeom>
          <a:noFill/>
          <a:ln cap="flat" cmpd="sng" w="9525">
            <a:solidFill>
              <a:srgbClr val="1F1F1F"/>
            </a:solidFill>
            <a:prstDash val="solid"/>
            <a:round/>
            <a:headEnd len="sm" w="sm" type="none"/>
            <a:tailEnd len="sm" w="sm" type="none"/>
          </a:ln>
        </p:spPr>
      </p:cxnSp>
      <p:sp>
        <p:nvSpPr>
          <p:cNvPr id="55" name="Google Shape;55;p4"/>
          <p:cNvSpPr/>
          <p:nvPr/>
        </p:nvSpPr>
        <p:spPr>
          <a:xfrm>
            <a:off x="6095963" y="2173709"/>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03</a:t>
            </a:r>
            <a:endParaRPr b="0" i="0" sz="800" u="none" cap="none" strike="noStrike">
              <a:solidFill>
                <a:schemeClr val="dk1"/>
              </a:solidFill>
              <a:latin typeface="Calibri"/>
              <a:ea typeface="Calibri"/>
              <a:cs typeface="Calibri"/>
              <a:sym typeface="Calibri"/>
            </a:endParaRPr>
          </a:p>
        </p:txBody>
      </p:sp>
      <p:sp>
        <p:nvSpPr>
          <p:cNvPr id="56" name="Google Shape;56;p4"/>
          <p:cNvSpPr/>
          <p:nvPr/>
        </p:nvSpPr>
        <p:spPr>
          <a:xfrm>
            <a:off x="6095963" y="2309440"/>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About Intelytica</a:t>
            </a:r>
            <a:endParaRPr b="0" i="0" sz="1069" u="none" cap="none" strike="noStrike">
              <a:solidFill>
                <a:schemeClr val="dk1"/>
              </a:solidFill>
              <a:latin typeface="Calibri"/>
              <a:ea typeface="Calibri"/>
              <a:cs typeface="Calibri"/>
              <a:sym typeface="Calibri"/>
            </a:endParaRPr>
          </a:p>
        </p:txBody>
      </p:sp>
      <p:sp>
        <p:nvSpPr>
          <p:cNvPr id="57" name="Google Shape;57;p4"/>
          <p:cNvSpPr/>
          <p:nvPr/>
        </p:nvSpPr>
        <p:spPr>
          <a:xfrm>
            <a:off x="6095963" y="2515158"/>
            <a:ext cx="2643304" cy="128588"/>
          </a:xfrm>
          <a:prstGeom prst="rect">
            <a:avLst/>
          </a:prstGeom>
          <a:noFill/>
          <a:ln>
            <a:noFill/>
          </a:ln>
        </p:spPr>
        <p:txBody>
          <a:bodyPr anchorCtr="0" anchor="t" bIns="0" lIns="0" spcFirstLastPara="1" rIns="0" wrap="square" tIns="0">
            <a:noAutofit/>
          </a:bodyPr>
          <a:lstStyle/>
          <a:p>
            <a:pPr indent="0" lvl="0" marL="0" marR="0" rtl="0" algn="l">
              <a:lnSpc>
                <a:spcPct val="150074"/>
              </a:lnSpc>
              <a:spcBef>
                <a:spcPts val="0"/>
              </a:spcBef>
              <a:spcAft>
                <a:spcPts val="0"/>
              </a:spcAft>
              <a:buClr>
                <a:srgbClr val="4A4A4A"/>
              </a:buClr>
              <a:buSzPts val="675"/>
              <a:buFont typeface="Carlito"/>
              <a:buNone/>
            </a:pPr>
            <a:r>
              <a:rPr b="0" i="0" lang="en-US" sz="675" u="none" cap="none" strike="noStrike">
                <a:solidFill>
                  <a:srgbClr val="4A4A4A"/>
                </a:solidFill>
                <a:latin typeface="Carlito"/>
                <a:ea typeface="Carlito"/>
                <a:cs typeface="Carlito"/>
                <a:sym typeface="Carlito"/>
              </a:rPr>
              <a:t>Host organisation profile and the team I joined.</a:t>
            </a:r>
            <a:endParaRPr b="0" i="0" sz="675" u="none" cap="none" strike="noStrike">
              <a:solidFill>
                <a:schemeClr val="dk1"/>
              </a:solidFill>
              <a:latin typeface="Calibri"/>
              <a:ea typeface="Calibri"/>
              <a:cs typeface="Calibri"/>
              <a:sym typeface="Calibri"/>
            </a:endParaRPr>
          </a:p>
        </p:txBody>
      </p:sp>
      <p:cxnSp>
        <p:nvCxnSpPr>
          <p:cNvPr id="58" name="Google Shape;58;p4"/>
          <p:cNvCxnSpPr/>
          <p:nvPr/>
        </p:nvCxnSpPr>
        <p:spPr>
          <a:xfrm>
            <a:off x="514350" y="2818767"/>
            <a:ext cx="2533576" cy="0"/>
          </a:xfrm>
          <a:prstGeom prst="straightConnector1">
            <a:avLst/>
          </a:prstGeom>
          <a:noFill/>
          <a:ln cap="flat" cmpd="sng" w="9525">
            <a:solidFill>
              <a:srgbClr val="1F1F1F"/>
            </a:solidFill>
            <a:prstDash val="solid"/>
            <a:round/>
            <a:headEnd len="sm" w="sm" type="none"/>
            <a:tailEnd len="sm" w="sm" type="none"/>
          </a:ln>
        </p:spPr>
      </p:cxnSp>
      <p:sp>
        <p:nvSpPr>
          <p:cNvPr id="59" name="Google Shape;59;p4"/>
          <p:cNvSpPr/>
          <p:nvPr/>
        </p:nvSpPr>
        <p:spPr>
          <a:xfrm>
            <a:off x="514350" y="2922352"/>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04</a:t>
            </a:r>
            <a:endParaRPr b="0" i="0" sz="800" u="none" cap="none" strike="noStrike">
              <a:solidFill>
                <a:schemeClr val="dk1"/>
              </a:solidFill>
              <a:latin typeface="Calibri"/>
              <a:ea typeface="Calibri"/>
              <a:cs typeface="Calibri"/>
              <a:sym typeface="Calibri"/>
            </a:endParaRPr>
          </a:p>
        </p:txBody>
      </p:sp>
      <p:sp>
        <p:nvSpPr>
          <p:cNvPr id="60" name="Google Shape;60;p4"/>
          <p:cNvSpPr/>
          <p:nvPr/>
        </p:nvSpPr>
        <p:spPr>
          <a:xfrm>
            <a:off x="514350" y="3058083"/>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The Prism platform</a:t>
            </a:r>
            <a:endParaRPr b="0" i="0" sz="1069" u="none" cap="none" strike="noStrike">
              <a:solidFill>
                <a:schemeClr val="dk1"/>
              </a:solidFill>
              <a:latin typeface="Calibri"/>
              <a:ea typeface="Calibri"/>
              <a:cs typeface="Calibri"/>
              <a:sym typeface="Calibri"/>
            </a:endParaRPr>
          </a:p>
        </p:txBody>
      </p:sp>
      <p:sp>
        <p:nvSpPr>
          <p:cNvPr id="61" name="Google Shape;61;p4"/>
          <p:cNvSpPr/>
          <p:nvPr/>
        </p:nvSpPr>
        <p:spPr>
          <a:xfrm>
            <a:off x="514350" y="3263801"/>
            <a:ext cx="2643304"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What the product is and the value it delivers.</a:t>
            </a:r>
            <a:endParaRPr b="0" i="0" sz="800" u="none" cap="none" strike="noStrike">
              <a:solidFill>
                <a:schemeClr val="dk1"/>
              </a:solidFill>
              <a:latin typeface="Calibri"/>
              <a:ea typeface="Calibri"/>
              <a:cs typeface="Calibri"/>
              <a:sym typeface="Calibri"/>
            </a:endParaRPr>
          </a:p>
        </p:txBody>
      </p:sp>
      <p:cxnSp>
        <p:nvCxnSpPr>
          <p:cNvPr id="62" name="Google Shape;62;p4"/>
          <p:cNvCxnSpPr/>
          <p:nvPr/>
        </p:nvCxnSpPr>
        <p:spPr>
          <a:xfrm>
            <a:off x="3305101" y="2818767"/>
            <a:ext cx="2533687" cy="0"/>
          </a:xfrm>
          <a:prstGeom prst="straightConnector1">
            <a:avLst/>
          </a:prstGeom>
          <a:noFill/>
          <a:ln cap="flat" cmpd="sng" w="9525">
            <a:solidFill>
              <a:srgbClr val="1F1F1F"/>
            </a:solidFill>
            <a:prstDash val="solid"/>
            <a:round/>
            <a:headEnd len="sm" w="sm" type="none"/>
            <a:tailEnd len="sm" w="sm" type="none"/>
          </a:ln>
        </p:spPr>
      </p:cxnSp>
      <p:sp>
        <p:nvSpPr>
          <p:cNvPr id="63" name="Google Shape;63;p4"/>
          <p:cNvSpPr/>
          <p:nvPr/>
        </p:nvSpPr>
        <p:spPr>
          <a:xfrm>
            <a:off x="3305101" y="2922352"/>
            <a:ext cx="2533687"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05</a:t>
            </a:r>
            <a:endParaRPr b="0" i="0" sz="800" u="none" cap="none" strike="noStrike">
              <a:solidFill>
                <a:schemeClr val="dk1"/>
              </a:solidFill>
              <a:latin typeface="Calibri"/>
              <a:ea typeface="Calibri"/>
              <a:cs typeface="Calibri"/>
              <a:sym typeface="Calibri"/>
            </a:endParaRPr>
          </a:p>
        </p:txBody>
      </p:sp>
      <p:sp>
        <p:nvSpPr>
          <p:cNvPr id="64" name="Google Shape;64;p4"/>
          <p:cNvSpPr/>
          <p:nvPr/>
        </p:nvSpPr>
        <p:spPr>
          <a:xfrm>
            <a:off x="3305101" y="3058083"/>
            <a:ext cx="2533687"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Problem statement</a:t>
            </a:r>
            <a:endParaRPr b="0" i="0" sz="1069" u="none" cap="none" strike="noStrike">
              <a:solidFill>
                <a:schemeClr val="dk1"/>
              </a:solidFill>
              <a:latin typeface="Calibri"/>
              <a:ea typeface="Calibri"/>
              <a:cs typeface="Calibri"/>
              <a:sym typeface="Calibri"/>
            </a:endParaRPr>
          </a:p>
        </p:txBody>
      </p:sp>
      <p:sp>
        <p:nvSpPr>
          <p:cNvPr id="65" name="Google Shape;65;p4"/>
          <p:cNvSpPr/>
          <p:nvPr/>
        </p:nvSpPr>
        <p:spPr>
          <a:xfrm>
            <a:off x="3305101" y="3263801"/>
            <a:ext cx="2643415"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Four sub-problems the platform solves.</a:t>
            </a:r>
            <a:endParaRPr b="0" i="0" sz="800" u="none" cap="none" strike="noStrike">
              <a:solidFill>
                <a:schemeClr val="dk1"/>
              </a:solidFill>
              <a:latin typeface="Calibri"/>
              <a:ea typeface="Calibri"/>
              <a:cs typeface="Calibri"/>
              <a:sym typeface="Calibri"/>
            </a:endParaRPr>
          </a:p>
        </p:txBody>
      </p:sp>
      <p:cxnSp>
        <p:nvCxnSpPr>
          <p:cNvPr id="66" name="Google Shape;66;p4"/>
          <p:cNvCxnSpPr/>
          <p:nvPr/>
        </p:nvCxnSpPr>
        <p:spPr>
          <a:xfrm>
            <a:off x="6095963" y="2818767"/>
            <a:ext cx="2533576" cy="0"/>
          </a:xfrm>
          <a:prstGeom prst="straightConnector1">
            <a:avLst/>
          </a:prstGeom>
          <a:noFill/>
          <a:ln cap="flat" cmpd="sng" w="9525">
            <a:solidFill>
              <a:srgbClr val="1F1F1F"/>
            </a:solidFill>
            <a:prstDash val="solid"/>
            <a:round/>
            <a:headEnd len="sm" w="sm" type="none"/>
            <a:tailEnd len="sm" w="sm" type="none"/>
          </a:ln>
        </p:spPr>
      </p:cxnSp>
      <p:sp>
        <p:nvSpPr>
          <p:cNvPr id="67" name="Google Shape;67;p4"/>
          <p:cNvSpPr/>
          <p:nvPr/>
        </p:nvSpPr>
        <p:spPr>
          <a:xfrm>
            <a:off x="6095963" y="2922352"/>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06</a:t>
            </a:r>
            <a:endParaRPr b="0" i="0" sz="800" u="none" cap="none" strike="noStrike">
              <a:solidFill>
                <a:schemeClr val="dk1"/>
              </a:solidFill>
              <a:latin typeface="Calibri"/>
              <a:ea typeface="Calibri"/>
              <a:cs typeface="Calibri"/>
              <a:sym typeface="Calibri"/>
            </a:endParaRPr>
          </a:p>
        </p:txBody>
      </p:sp>
      <p:sp>
        <p:nvSpPr>
          <p:cNvPr id="68" name="Google Shape;68;p4"/>
          <p:cNvSpPr/>
          <p:nvPr/>
        </p:nvSpPr>
        <p:spPr>
          <a:xfrm>
            <a:off x="6095963" y="3058083"/>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System architecture</a:t>
            </a:r>
            <a:endParaRPr b="0" i="0" sz="1069" u="none" cap="none" strike="noStrike">
              <a:solidFill>
                <a:schemeClr val="dk1"/>
              </a:solidFill>
              <a:latin typeface="Calibri"/>
              <a:ea typeface="Calibri"/>
              <a:cs typeface="Calibri"/>
              <a:sym typeface="Calibri"/>
            </a:endParaRPr>
          </a:p>
        </p:txBody>
      </p:sp>
      <p:sp>
        <p:nvSpPr>
          <p:cNvPr id="69" name="Google Shape;69;p4"/>
          <p:cNvSpPr/>
          <p:nvPr/>
        </p:nvSpPr>
        <p:spPr>
          <a:xfrm>
            <a:off x="6095963" y="3263801"/>
            <a:ext cx="2643304"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Layered view of the platform.</a:t>
            </a:r>
            <a:endParaRPr b="0" i="0" sz="800" u="none" cap="none" strike="noStrike">
              <a:solidFill>
                <a:schemeClr val="dk1"/>
              </a:solidFill>
              <a:latin typeface="Calibri"/>
              <a:ea typeface="Calibri"/>
              <a:cs typeface="Calibri"/>
              <a:sym typeface="Calibri"/>
            </a:endParaRPr>
          </a:p>
        </p:txBody>
      </p:sp>
      <p:cxnSp>
        <p:nvCxnSpPr>
          <p:cNvPr id="70" name="Google Shape;70;p4"/>
          <p:cNvCxnSpPr/>
          <p:nvPr/>
        </p:nvCxnSpPr>
        <p:spPr>
          <a:xfrm>
            <a:off x="514350" y="3567410"/>
            <a:ext cx="2533576" cy="0"/>
          </a:xfrm>
          <a:prstGeom prst="straightConnector1">
            <a:avLst/>
          </a:prstGeom>
          <a:noFill/>
          <a:ln cap="flat" cmpd="sng" w="9525">
            <a:solidFill>
              <a:srgbClr val="1F1F1F"/>
            </a:solidFill>
            <a:prstDash val="solid"/>
            <a:round/>
            <a:headEnd len="sm" w="sm" type="none"/>
            <a:tailEnd len="sm" w="sm" type="none"/>
          </a:ln>
        </p:spPr>
      </p:cxnSp>
      <p:sp>
        <p:nvSpPr>
          <p:cNvPr id="71" name="Google Shape;71;p4"/>
          <p:cNvSpPr/>
          <p:nvPr/>
        </p:nvSpPr>
        <p:spPr>
          <a:xfrm>
            <a:off x="514350" y="3670995"/>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07</a:t>
            </a:r>
            <a:endParaRPr b="0" i="0" sz="800" u="none" cap="none" strike="noStrike">
              <a:solidFill>
                <a:schemeClr val="dk1"/>
              </a:solidFill>
              <a:latin typeface="Calibri"/>
              <a:ea typeface="Calibri"/>
              <a:cs typeface="Calibri"/>
              <a:sym typeface="Calibri"/>
            </a:endParaRPr>
          </a:p>
        </p:txBody>
      </p:sp>
      <p:sp>
        <p:nvSpPr>
          <p:cNvPr id="72" name="Google Shape;72;p4"/>
          <p:cNvSpPr/>
          <p:nvPr/>
        </p:nvSpPr>
        <p:spPr>
          <a:xfrm>
            <a:off x="514350" y="3806726"/>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My contributions</a:t>
            </a:r>
            <a:endParaRPr b="0" i="0" sz="1069" u="none" cap="none" strike="noStrike">
              <a:solidFill>
                <a:schemeClr val="dk1"/>
              </a:solidFill>
              <a:latin typeface="Calibri"/>
              <a:ea typeface="Calibri"/>
              <a:cs typeface="Calibri"/>
              <a:sym typeface="Calibri"/>
            </a:endParaRPr>
          </a:p>
        </p:txBody>
      </p:sp>
      <p:sp>
        <p:nvSpPr>
          <p:cNvPr id="73" name="Google Shape;73;p4"/>
          <p:cNvSpPr/>
          <p:nvPr/>
        </p:nvSpPr>
        <p:spPr>
          <a:xfrm>
            <a:off x="514350" y="4012443"/>
            <a:ext cx="2643304" cy="128588"/>
          </a:xfrm>
          <a:prstGeom prst="rect">
            <a:avLst/>
          </a:prstGeom>
          <a:noFill/>
          <a:ln>
            <a:noFill/>
          </a:ln>
        </p:spPr>
        <p:txBody>
          <a:bodyPr anchorCtr="0" anchor="t" bIns="0" lIns="0" spcFirstLastPara="1" rIns="0" wrap="square" tIns="0">
            <a:noAutofit/>
          </a:bodyPr>
          <a:lstStyle/>
          <a:p>
            <a:pPr indent="0" lvl="0" marL="0" marR="0" rtl="0" algn="l">
              <a:lnSpc>
                <a:spcPct val="150074"/>
              </a:lnSpc>
              <a:spcBef>
                <a:spcPts val="0"/>
              </a:spcBef>
              <a:spcAft>
                <a:spcPts val="0"/>
              </a:spcAft>
              <a:buClr>
                <a:srgbClr val="4A4A4A"/>
              </a:buClr>
              <a:buSzPts val="675"/>
              <a:buFont typeface="Carlito"/>
              <a:buNone/>
            </a:pPr>
            <a:r>
              <a:rPr b="0" i="0" lang="en-US" sz="675" u="none" cap="none" strike="noStrike">
                <a:solidFill>
                  <a:srgbClr val="4A4A4A"/>
                </a:solidFill>
                <a:latin typeface="Carlito"/>
                <a:ea typeface="Carlito"/>
                <a:cs typeface="Carlito"/>
                <a:sym typeface="Carlito"/>
              </a:rPr>
              <a:t>The AI/ML and generative-services work I owned.</a:t>
            </a:r>
            <a:endParaRPr b="0" i="0" sz="675" u="none" cap="none" strike="noStrike">
              <a:solidFill>
                <a:schemeClr val="dk1"/>
              </a:solidFill>
              <a:latin typeface="Calibri"/>
              <a:ea typeface="Calibri"/>
              <a:cs typeface="Calibri"/>
              <a:sym typeface="Calibri"/>
            </a:endParaRPr>
          </a:p>
        </p:txBody>
      </p:sp>
      <p:cxnSp>
        <p:nvCxnSpPr>
          <p:cNvPr id="74" name="Google Shape;74;p4"/>
          <p:cNvCxnSpPr/>
          <p:nvPr/>
        </p:nvCxnSpPr>
        <p:spPr>
          <a:xfrm>
            <a:off x="3305101" y="3567410"/>
            <a:ext cx="2533687" cy="0"/>
          </a:xfrm>
          <a:prstGeom prst="straightConnector1">
            <a:avLst/>
          </a:prstGeom>
          <a:noFill/>
          <a:ln cap="flat" cmpd="sng" w="9525">
            <a:solidFill>
              <a:srgbClr val="1F1F1F"/>
            </a:solidFill>
            <a:prstDash val="solid"/>
            <a:round/>
            <a:headEnd len="sm" w="sm" type="none"/>
            <a:tailEnd len="sm" w="sm" type="none"/>
          </a:ln>
        </p:spPr>
      </p:cxnSp>
      <p:sp>
        <p:nvSpPr>
          <p:cNvPr id="75" name="Google Shape;75;p4"/>
          <p:cNvSpPr/>
          <p:nvPr/>
        </p:nvSpPr>
        <p:spPr>
          <a:xfrm>
            <a:off x="3305101" y="3670995"/>
            <a:ext cx="2533687"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08</a:t>
            </a:r>
            <a:endParaRPr b="0" i="0" sz="800" u="none" cap="none" strike="noStrike">
              <a:solidFill>
                <a:schemeClr val="dk1"/>
              </a:solidFill>
              <a:latin typeface="Calibri"/>
              <a:ea typeface="Calibri"/>
              <a:cs typeface="Calibri"/>
              <a:sym typeface="Calibri"/>
            </a:endParaRPr>
          </a:p>
        </p:txBody>
      </p:sp>
      <p:sp>
        <p:nvSpPr>
          <p:cNvPr id="76" name="Google Shape;76;p4"/>
          <p:cNvSpPr/>
          <p:nvPr/>
        </p:nvSpPr>
        <p:spPr>
          <a:xfrm>
            <a:off x="3305101" y="3806726"/>
            <a:ext cx="2533687"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Tech stack</a:t>
            </a:r>
            <a:endParaRPr b="0" i="0" sz="1069" u="none" cap="none" strike="noStrike">
              <a:solidFill>
                <a:schemeClr val="dk1"/>
              </a:solidFill>
              <a:latin typeface="Calibri"/>
              <a:ea typeface="Calibri"/>
              <a:cs typeface="Calibri"/>
              <a:sym typeface="Calibri"/>
            </a:endParaRPr>
          </a:p>
        </p:txBody>
      </p:sp>
      <p:sp>
        <p:nvSpPr>
          <p:cNvPr id="77" name="Google Shape;77;p4"/>
          <p:cNvSpPr/>
          <p:nvPr/>
        </p:nvSpPr>
        <p:spPr>
          <a:xfrm>
            <a:off x="3305101" y="4012443"/>
            <a:ext cx="2643415"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Technologies and tools used.</a:t>
            </a:r>
            <a:endParaRPr b="0" i="0" sz="800" u="none" cap="none" strike="noStrike">
              <a:solidFill>
                <a:schemeClr val="dk1"/>
              </a:solidFill>
              <a:latin typeface="Calibri"/>
              <a:ea typeface="Calibri"/>
              <a:cs typeface="Calibri"/>
              <a:sym typeface="Calibri"/>
            </a:endParaRPr>
          </a:p>
        </p:txBody>
      </p:sp>
      <p:cxnSp>
        <p:nvCxnSpPr>
          <p:cNvPr id="78" name="Google Shape;78;p4"/>
          <p:cNvCxnSpPr/>
          <p:nvPr/>
        </p:nvCxnSpPr>
        <p:spPr>
          <a:xfrm>
            <a:off x="6095963" y="3567410"/>
            <a:ext cx="2533576" cy="0"/>
          </a:xfrm>
          <a:prstGeom prst="straightConnector1">
            <a:avLst/>
          </a:prstGeom>
          <a:noFill/>
          <a:ln cap="flat" cmpd="sng" w="9525">
            <a:solidFill>
              <a:srgbClr val="1F1F1F"/>
            </a:solidFill>
            <a:prstDash val="solid"/>
            <a:round/>
            <a:headEnd len="sm" w="sm" type="none"/>
            <a:tailEnd len="sm" w="sm" type="none"/>
          </a:ln>
        </p:spPr>
      </p:cxnSp>
      <p:sp>
        <p:nvSpPr>
          <p:cNvPr id="79" name="Google Shape;79;p4"/>
          <p:cNvSpPr/>
          <p:nvPr/>
        </p:nvSpPr>
        <p:spPr>
          <a:xfrm>
            <a:off x="6095963" y="3670995"/>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09</a:t>
            </a:r>
            <a:endParaRPr b="0" i="0" sz="800" u="none" cap="none" strike="noStrike">
              <a:solidFill>
                <a:schemeClr val="dk1"/>
              </a:solidFill>
              <a:latin typeface="Calibri"/>
              <a:ea typeface="Calibri"/>
              <a:cs typeface="Calibri"/>
              <a:sym typeface="Calibri"/>
            </a:endParaRPr>
          </a:p>
        </p:txBody>
      </p:sp>
      <p:sp>
        <p:nvSpPr>
          <p:cNvPr id="80" name="Google Shape;80;p4"/>
          <p:cNvSpPr/>
          <p:nvPr/>
        </p:nvSpPr>
        <p:spPr>
          <a:xfrm>
            <a:off x="6095963" y="3806726"/>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Methodology</a:t>
            </a:r>
            <a:endParaRPr b="0" i="0" sz="1069" u="none" cap="none" strike="noStrike">
              <a:solidFill>
                <a:schemeClr val="dk1"/>
              </a:solidFill>
              <a:latin typeface="Calibri"/>
              <a:ea typeface="Calibri"/>
              <a:cs typeface="Calibri"/>
              <a:sym typeface="Calibri"/>
            </a:endParaRPr>
          </a:p>
        </p:txBody>
      </p:sp>
      <p:sp>
        <p:nvSpPr>
          <p:cNvPr id="81" name="Google Shape;81;p4"/>
          <p:cNvSpPr/>
          <p:nvPr/>
        </p:nvSpPr>
        <p:spPr>
          <a:xfrm>
            <a:off x="6095963" y="4012443"/>
            <a:ext cx="2643304"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Four phases over twelve weeks.</a:t>
            </a:r>
            <a:endParaRPr b="0" i="0" sz="800" u="none" cap="none" strike="noStrike">
              <a:solidFill>
                <a:schemeClr val="dk1"/>
              </a:solidFill>
              <a:latin typeface="Calibri"/>
              <a:ea typeface="Calibri"/>
              <a:cs typeface="Calibri"/>
              <a:sym typeface="Calibri"/>
            </a:endParaRPr>
          </a:p>
        </p:txBody>
      </p:sp>
      <p:cxnSp>
        <p:nvCxnSpPr>
          <p:cNvPr id="82" name="Google Shape;82;p4"/>
          <p:cNvCxnSpPr/>
          <p:nvPr/>
        </p:nvCxnSpPr>
        <p:spPr>
          <a:xfrm>
            <a:off x="514350" y="4316053"/>
            <a:ext cx="2533576" cy="0"/>
          </a:xfrm>
          <a:prstGeom prst="straightConnector1">
            <a:avLst/>
          </a:prstGeom>
          <a:noFill/>
          <a:ln cap="flat" cmpd="sng" w="9525">
            <a:solidFill>
              <a:srgbClr val="1F1F1F"/>
            </a:solidFill>
            <a:prstDash val="solid"/>
            <a:round/>
            <a:headEnd len="sm" w="sm" type="none"/>
            <a:tailEnd len="sm" w="sm" type="none"/>
          </a:ln>
        </p:spPr>
      </p:cxnSp>
      <p:sp>
        <p:nvSpPr>
          <p:cNvPr id="83" name="Google Shape;83;p4"/>
          <p:cNvSpPr/>
          <p:nvPr/>
        </p:nvSpPr>
        <p:spPr>
          <a:xfrm>
            <a:off x="514350" y="4419637"/>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10</a:t>
            </a:r>
            <a:endParaRPr b="0" i="0" sz="800" u="none" cap="none" strike="noStrike">
              <a:solidFill>
                <a:schemeClr val="dk1"/>
              </a:solidFill>
              <a:latin typeface="Calibri"/>
              <a:ea typeface="Calibri"/>
              <a:cs typeface="Calibri"/>
              <a:sym typeface="Calibri"/>
            </a:endParaRPr>
          </a:p>
        </p:txBody>
      </p:sp>
      <p:sp>
        <p:nvSpPr>
          <p:cNvPr id="84" name="Google Shape;84;p4"/>
          <p:cNvSpPr/>
          <p:nvPr/>
        </p:nvSpPr>
        <p:spPr>
          <a:xfrm>
            <a:off x="514350" y="4555368"/>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Outcomes</a:t>
            </a:r>
            <a:endParaRPr b="0" i="0" sz="1069" u="none" cap="none" strike="noStrike">
              <a:solidFill>
                <a:schemeClr val="dk1"/>
              </a:solidFill>
              <a:latin typeface="Calibri"/>
              <a:ea typeface="Calibri"/>
              <a:cs typeface="Calibri"/>
              <a:sym typeface="Calibri"/>
            </a:endParaRPr>
          </a:p>
        </p:txBody>
      </p:sp>
      <p:sp>
        <p:nvSpPr>
          <p:cNvPr id="85" name="Google Shape;85;p4"/>
          <p:cNvSpPr/>
          <p:nvPr/>
        </p:nvSpPr>
        <p:spPr>
          <a:xfrm>
            <a:off x="514350" y="4761086"/>
            <a:ext cx="2643304"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Six tangible deliverables shipped.</a:t>
            </a:r>
            <a:endParaRPr b="0" i="0" sz="800" u="none" cap="none" strike="noStrike">
              <a:solidFill>
                <a:schemeClr val="dk1"/>
              </a:solidFill>
              <a:latin typeface="Calibri"/>
              <a:ea typeface="Calibri"/>
              <a:cs typeface="Calibri"/>
              <a:sym typeface="Calibri"/>
            </a:endParaRPr>
          </a:p>
        </p:txBody>
      </p:sp>
      <p:cxnSp>
        <p:nvCxnSpPr>
          <p:cNvPr id="86" name="Google Shape;86;p4"/>
          <p:cNvCxnSpPr/>
          <p:nvPr/>
        </p:nvCxnSpPr>
        <p:spPr>
          <a:xfrm>
            <a:off x="3305101" y="4316053"/>
            <a:ext cx="2533687" cy="0"/>
          </a:xfrm>
          <a:prstGeom prst="straightConnector1">
            <a:avLst/>
          </a:prstGeom>
          <a:noFill/>
          <a:ln cap="flat" cmpd="sng" w="9525">
            <a:solidFill>
              <a:srgbClr val="1F1F1F"/>
            </a:solidFill>
            <a:prstDash val="solid"/>
            <a:round/>
            <a:headEnd len="sm" w="sm" type="none"/>
            <a:tailEnd len="sm" w="sm" type="none"/>
          </a:ln>
        </p:spPr>
      </p:cxnSp>
      <p:sp>
        <p:nvSpPr>
          <p:cNvPr id="87" name="Google Shape;87;p4"/>
          <p:cNvSpPr/>
          <p:nvPr/>
        </p:nvSpPr>
        <p:spPr>
          <a:xfrm>
            <a:off x="3305101" y="4419637"/>
            <a:ext cx="2533687"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11</a:t>
            </a:r>
            <a:endParaRPr b="0" i="0" sz="800" u="none" cap="none" strike="noStrike">
              <a:solidFill>
                <a:schemeClr val="dk1"/>
              </a:solidFill>
              <a:latin typeface="Calibri"/>
              <a:ea typeface="Calibri"/>
              <a:cs typeface="Calibri"/>
              <a:sym typeface="Calibri"/>
            </a:endParaRPr>
          </a:p>
        </p:txBody>
      </p:sp>
      <p:sp>
        <p:nvSpPr>
          <p:cNvPr id="88" name="Google Shape;88;p4"/>
          <p:cNvSpPr/>
          <p:nvPr/>
        </p:nvSpPr>
        <p:spPr>
          <a:xfrm>
            <a:off x="3305101" y="4555368"/>
            <a:ext cx="2533687"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Learnings &amp; reflections</a:t>
            </a:r>
            <a:endParaRPr b="0" i="0" sz="1069" u="none" cap="none" strike="noStrike">
              <a:solidFill>
                <a:schemeClr val="dk1"/>
              </a:solidFill>
              <a:latin typeface="Calibri"/>
              <a:ea typeface="Calibri"/>
              <a:cs typeface="Calibri"/>
              <a:sym typeface="Calibri"/>
            </a:endParaRPr>
          </a:p>
        </p:txBody>
      </p:sp>
      <p:sp>
        <p:nvSpPr>
          <p:cNvPr id="89" name="Google Shape;89;p4"/>
          <p:cNvSpPr/>
          <p:nvPr/>
        </p:nvSpPr>
        <p:spPr>
          <a:xfrm>
            <a:off x="3305101" y="4761086"/>
            <a:ext cx="2643415"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Engineering and professional takeaways.</a:t>
            </a:r>
            <a:endParaRPr b="0" i="0" sz="800" u="none" cap="none" strike="noStrike">
              <a:solidFill>
                <a:schemeClr val="dk1"/>
              </a:solidFill>
              <a:latin typeface="Calibri"/>
              <a:ea typeface="Calibri"/>
              <a:cs typeface="Calibri"/>
              <a:sym typeface="Calibri"/>
            </a:endParaRPr>
          </a:p>
        </p:txBody>
      </p:sp>
      <p:cxnSp>
        <p:nvCxnSpPr>
          <p:cNvPr id="90" name="Google Shape;90;p4"/>
          <p:cNvCxnSpPr/>
          <p:nvPr/>
        </p:nvCxnSpPr>
        <p:spPr>
          <a:xfrm>
            <a:off x="6095963" y="4316053"/>
            <a:ext cx="2533576" cy="0"/>
          </a:xfrm>
          <a:prstGeom prst="straightConnector1">
            <a:avLst/>
          </a:prstGeom>
          <a:noFill/>
          <a:ln cap="flat" cmpd="sng" w="9525">
            <a:solidFill>
              <a:srgbClr val="1F1F1F"/>
            </a:solidFill>
            <a:prstDash val="solid"/>
            <a:round/>
            <a:headEnd len="sm" w="sm" type="none"/>
            <a:tailEnd len="sm" w="sm" type="none"/>
          </a:ln>
        </p:spPr>
      </p:cxnSp>
      <p:sp>
        <p:nvSpPr>
          <p:cNvPr id="91" name="Google Shape;91;p4"/>
          <p:cNvSpPr/>
          <p:nvPr/>
        </p:nvSpPr>
        <p:spPr>
          <a:xfrm>
            <a:off x="6095963" y="4419637"/>
            <a:ext cx="2533576"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12</a:t>
            </a:r>
            <a:endParaRPr b="0" i="0" sz="800" u="none" cap="none" strike="noStrike">
              <a:solidFill>
                <a:schemeClr val="dk1"/>
              </a:solidFill>
              <a:latin typeface="Calibri"/>
              <a:ea typeface="Calibri"/>
              <a:cs typeface="Calibri"/>
              <a:sym typeface="Calibri"/>
            </a:endParaRPr>
          </a:p>
        </p:txBody>
      </p:sp>
      <p:sp>
        <p:nvSpPr>
          <p:cNvPr id="92" name="Google Shape;92;p4"/>
          <p:cNvSpPr/>
          <p:nvPr/>
        </p:nvSpPr>
        <p:spPr>
          <a:xfrm>
            <a:off x="6095963" y="4555368"/>
            <a:ext cx="2533576" cy="175884"/>
          </a:xfrm>
          <a:prstGeom prst="rect">
            <a:avLst/>
          </a:prstGeom>
          <a:noFill/>
          <a:ln>
            <a:noFill/>
          </a:ln>
        </p:spPr>
        <p:txBody>
          <a:bodyPr anchorCtr="0" anchor="t" bIns="0" lIns="0" spcFirstLastPara="1" rIns="0" wrap="square" tIns="0">
            <a:noAutofit/>
          </a:bodyPr>
          <a:lstStyle/>
          <a:p>
            <a:pPr indent="0" lvl="0" marL="0" marR="0" rtl="0" algn="l">
              <a:lnSpc>
                <a:spcPct val="120018"/>
              </a:lnSpc>
              <a:spcBef>
                <a:spcPts val="0"/>
              </a:spcBef>
              <a:spcAft>
                <a:spcPts val="0"/>
              </a:spcAft>
              <a:buClr>
                <a:srgbClr val="1F1F1F"/>
              </a:buClr>
              <a:buSzPts val="1069"/>
              <a:buFont typeface="Tinos"/>
              <a:buNone/>
            </a:pPr>
            <a:r>
              <a:rPr b="0" i="0" lang="en-US" sz="1069" u="none" cap="none" strike="noStrike">
                <a:solidFill>
                  <a:srgbClr val="1F1F1F"/>
                </a:solidFill>
                <a:latin typeface="Tinos"/>
                <a:ea typeface="Tinos"/>
                <a:cs typeface="Tinos"/>
                <a:sym typeface="Tinos"/>
              </a:rPr>
              <a:t>Thank you</a:t>
            </a:r>
            <a:endParaRPr b="0" i="0" sz="1069" u="none" cap="none" strike="noStrike">
              <a:solidFill>
                <a:schemeClr val="dk1"/>
              </a:solidFill>
              <a:latin typeface="Calibri"/>
              <a:ea typeface="Calibri"/>
              <a:cs typeface="Calibri"/>
              <a:sym typeface="Calibri"/>
            </a:endParaRPr>
          </a:p>
        </p:txBody>
      </p:sp>
      <p:sp>
        <p:nvSpPr>
          <p:cNvPr id="93" name="Google Shape;93;p4"/>
          <p:cNvSpPr/>
          <p:nvPr/>
        </p:nvSpPr>
        <p:spPr>
          <a:xfrm>
            <a:off x="6095963" y="4761086"/>
            <a:ext cx="2643304" cy="128588"/>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Closing slide and contact.</a:t>
            </a:r>
            <a:endParaRPr b="0" i="0" sz="800" u="none" cap="none" strike="noStrike">
              <a:solidFill>
                <a:schemeClr val="dk1"/>
              </a:solidFill>
              <a:latin typeface="Calibri"/>
              <a:ea typeface="Calibri"/>
              <a:cs typeface="Calibri"/>
              <a:sym typeface="Calibri"/>
            </a:endParaRPr>
          </a:p>
        </p:txBody>
      </p:sp>
      <p:sp>
        <p:nvSpPr>
          <p:cNvPr id="94" name="Google Shape;94;p4"/>
          <p:cNvSpPr/>
          <p:nvPr/>
        </p:nvSpPr>
        <p:spPr>
          <a:xfrm>
            <a:off x="514350" y="4893469"/>
            <a:ext cx="544889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IILM UNIVERSITY</a:t>
            </a:r>
            <a:r>
              <a:rPr b="0" i="0" lang="en-US" sz="800" u="none" cap="none" strike="noStrike">
                <a:solidFill>
                  <a:srgbClr val="8A8A8A"/>
                </a:solidFill>
                <a:latin typeface="Arial"/>
                <a:ea typeface="Arial"/>
                <a:cs typeface="Arial"/>
                <a:sym typeface="Arial"/>
              </a:rPr>
              <a:t> · B.TECH CSE · 2026–27</a:t>
            </a:r>
            <a:endParaRPr b="0" i="0" sz="800" u="none" cap="none" strike="noStrike">
              <a:solidFill>
                <a:schemeClr val="dk1"/>
              </a:solidFill>
              <a:latin typeface="Calibri"/>
              <a:ea typeface="Calibri"/>
              <a:cs typeface="Calibri"/>
              <a:sym typeface="Calibri"/>
            </a:endParaRPr>
          </a:p>
        </p:txBody>
      </p:sp>
      <p:sp>
        <p:nvSpPr>
          <p:cNvPr id="95" name="Google Shape;95;p4"/>
          <p:cNvSpPr/>
          <p:nvPr/>
        </p:nvSpPr>
        <p:spPr>
          <a:xfrm>
            <a:off x="5977533" y="4893469"/>
            <a:ext cx="2652117"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rPr b="0" i="0" lang="en-US" sz="600" u="none" cap="none" strike="noStrike">
                <a:solidFill>
                  <a:srgbClr val="8A8A8A"/>
                </a:solidFill>
                <a:latin typeface="Carlito"/>
                <a:ea typeface="Carlito"/>
                <a:cs typeface="Carlito"/>
                <a:sym typeface="Carlito"/>
              </a:rPr>
              <a:t>INTERNSHIP AT INTELYTICA BUSINESS ANALYTICS PVT. LTD.</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00" name="Shape 100"/>
        <p:cNvGrpSpPr/>
        <p:nvPr/>
      </p:nvGrpSpPr>
      <p:grpSpPr>
        <a:xfrm>
          <a:off x="0" y="0"/>
          <a:ext cx="0" cy="0"/>
          <a:chOff x="0" y="0"/>
          <a:chExt cx="0" cy="0"/>
        </a:xfrm>
      </p:grpSpPr>
      <p:cxnSp>
        <p:nvCxnSpPr>
          <p:cNvPr id="101" name="Google Shape;101;p5"/>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102" name="Google Shape;102;p5"/>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103" name="Google Shape;103;p5"/>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03 / 12</a:t>
            </a:r>
            <a:endParaRPr b="0" i="0" sz="800" u="none" cap="none" strike="noStrike">
              <a:solidFill>
                <a:schemeClr val="dk1"/>
              </a:solidFill>
              <a:latin typeface="Calibri"/>
              <a:ea typeface="Calibri"/>
              <a:cs typeface="Calibri"/>
              <a:sym typeface="Calibri"/>
            </a:endParaRPr>
          </a:p>
        </p:txBody>
      </p:sp>
      <p:sp>
        <p:nvSpPr>
          <p:cNvPr id="104" name="Google Shape;104;p5"/>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HOST ORGANISATION</a:t>
            </a:r>
            <a:endParaRPr b="0" i="0" sz="800" u="none" cap="none" strike="noStrike">
              <a:solidFill>
                <a:schemeClr val="dk1"/>
              </a:solidFill>
              <a:latin typeface="Calibri"/>
              <a:ea typeface="Calibri"/>
              <a:cs typeface="Calibri"/>
              <a:sym typeface="Calibri"/>
            </a:endParaRPr>
          </a:p>
        </p:txBody>
      </p:sp>
      <p:sp>
        <p:nvSpPr>
          <p:cNvPr id="105" name="Google Shape;105;p5"/>
          <p:cNvSpPr/>
          <p:nvPr/>
        </p:nvSpPr>
        <p:spPr>
          <a:xfrm>
            <a:off x="514350" y="971550"/>
            <a:ext cx="8521065"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About Intelytica</a:t>
            </a:r>
            <a:endParaRPr b="0" i="0" sz="2363" u="none" cap="none" strike="noStrike">
              <a:solidFill>
                <a:schemeClr val="dk1"/>
              </a:solidFill>
              <a:latin typeface="Calibri"/>
              <a:ea typeface="Calibri"/>
              <a:cs typeface="Calibri"/>
              <a:sym typeface="Calibri"/>
            </a:endParaRPr>
          </a:p>
        </p:txBody>
      </p:sp>
      <p:sp>
        <p:nvSpPr>
          <p:cNvPr id="106" name="Google Shape;106;p5"/>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A Hyderabad-based technology firm building data-science and AI products for the Indian retail sector — and the team that owns the Prism platform.</a:t>
            </a:r>
            <a:endParaRPr b="0" i="0" sz="1069" u="none" cap="none" strike="noStrike">
              <a:solidFill>
                <a:schemeClr val="dk1"/>
              </a:solidFill>
              <a:latin typeface="Calibri"/>
              <a:ea typeface="Calibri"/>
              <a:cs typeface="Calibri"/>
              <a:sym typeface="Calibri"/>
            </a:endParaRPr>
          </a:p>
        </p:txBody>
      </p:sp>
      <p:sp>
        <p:nvSpPr>
          <p:cNvPr id="107" name="Google Shape;107;p5"/>
          <p:cNvSpPr/>
          <p:nvPr/>
        </p:nvSpPr>
        <p:spPr>
          <a:xfrm>
            <a:off x="514350" y="2066553"/>
            <a:ext cx="1932384" cy="96686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08" name="Google Shape;108;p5"/>
          <p:cNvCxnSpPr/>
          <p:nvPr/>
        </p:nvCxnSpPr>
        <p:spPr>
          <a:xfrm>
            <a:off x="525066" y="2066553"/>
            <a:ext cx="0" cy="966862"/>
          </a:xfrm>
          <a:prstGeom prst="straightConnector1">
            <a:avLst/>
          </a:prstGeom>
          <a:noFill/>
          <a:ln cap="flat" cmpd="sng" w="21425">
            <a:solidFill>
              <a:srgbClr val="1E4D4A"/>
            </a:solidFill>
            <a:prstDash val="solid"/>
            <a:round/>
            <a:headEnd len="sm" w="sm" type="none"/>
            <a:tailEnd len="sm" w="sm" type="none"/>
          </a:ln>
        </p:spPr>
      </p:cxnSp>
      <p:sp>
        <p:nvSpPr>
          <p:cNvPr id="109" name="Google Shape;109;p5"/>
          <p:cNvSpPr/>
          <p:nvPr/>
        </p:nvSpPr>
        <p:spPr>
          <a:xfrm>
            <a:off x="664369" y="2209428"/>
            <a:ext cx="1653778" cy="2868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1F1F"/>
              </a:buClr>
              <a:buSzPts val="2138"/>
              <a:buFont typeface="Arial"/>
              <a:buNone/>
            </a:pPr>
            <a:r>
              <a:rPr b="1" i="0" lang="en-US" sz="2138" u="none" cap="none" strike="noStrike">
                <a:solidFill>
                  <a:srgbClr val="1F1F1F"/>
                </a:solidFill>
                <a:latin typeface="Arial"/>
                <a:ea typeface="Arial"/>
                <a:cs typeface="Arial"/>
                <a:sym typeface="Arial"/>
              </a:rPr>
              <a:t>3</a:t>
            </a:r>
            <a:r>
              <a:rPr b="1" i="0" lang="en-US" sz="800" u="none" cap="none" strike="noStrike">
                <a:solidFill>
                  <a:srgbClr val="8A8A8A"/>
                </a:solidFill>
                <a:latin typeface="Carlito"/>
                <a:ea typeface="Carlito"/>
                <a:cs typeface="Carlito"/>
                <a:sym typeface="Carlito"/>
              </a:rPr>
              <a:t>months</a:t>
            </a:r>
            <a:endParaRPr b="0" i="0" sz="2138" u="none" cap="none" strike="noStrike">
              <a:solidFill>
                <a:schemeClr val="dk1"/>
              </a:solidFill>
              <a:latin typeface="Calibri"/>
              <a:ea typeface="Calibri"/>
              <a:cs typeface="Calibri"/>
              <a:sym typeface="Calibri"/>
            </a:endParaRPr>
          </a:p>
        </p:txBody>
      </p:sp>
      <p:sp>
        <p:nvSpPr>
          <p:cNvPr id="110" name="Google Shape;110;p5"/>
          <p:cNvSpPr/>
          <p:nvPr/>
        </p:nvSpPr>
        <p:spPr>
          <a:xfrm>
            <a:off x="664369" y="2523753"/>
            <a:ext cx="1653778" cy="1011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INTERNSHIP DURATION</a:t>
            </a:r>
            <a:endParaRPr b="0" i="0" sz="800" u="none" cap="none" strike="noStrike">
              <a:solidFill>
                <a:schemeClr val="dk1"/>
              </a:solidFill>
              <a:latin typeface="Calibri"/>
              <a:ea typeface="Calibri"/>
              <a:cs typeface="Calibri"/>
              <a:sym typeface="Calibri"/>
            </a:endParaRPr>
          </a:p>
        </p:txBody>
      </p:sp>
      <p:sp>
        <p:nvSpPr>
          <p:cNvPr id="111" name="Google Shape;111;p5"/>
          <p:cNvSpPr/>
          <p:nvPr/>
        </p:nvSpPr>
        <p:spPr>
          <a:xfrm>
            <a:off x="664369" y="2652340"/>
            <a:ext cx="1653778" cy="159076"/>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Arial"/>
              <a:buNone/>
            </a:pPr>
            <a:r>
              <a:rPr b="0" i="0" lang="en-US" sz="800" u="none" cap="none" strike="noStrike">
                <a:solidFill>
                  <a:srgbClr val="4A4A4A"/>
                </a:solidFill>
                <a:latin typeface="Arial"/>
                <a:ea typeface="Arial"/>
                <a:cs typeface="Arial"/>
                <a:sym typeface="Arial"/>
              </a:rPr>
              <a:t>01 June – 31 August 2026</a:t>
            </a:r>
            <a:endParaRPr b="0" i="0" sz="800" u="none" cap="none" strike="noStrike">
              <a:solidFill>
                <a:schemeClr val="dk1"/>
              </a:solidFill>
              <a:latin typeface="Calibri"/>
              <a:ea typeface="Calibri"/>
              <a:cs typeface="Calibri"/>
              <a:sym typeface="Calibri"/>
            </a:endParaRPr>
          </a:p>
        </p:txBody>
      </p:sp>
      <p:sp>
        <p:nvSpPr>
          <p:cNvPr id="112" name="Google Shape;112;p5"/>
          <p:cNvSpPr/>
          <p:nvPr/>
        </p:nvSpPr>
        <p:spPr>
          <a:xfrm>
            <a:off x="2575322" y="2066553"/>
            <a:ext cx="1932384" cy="96686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13" name="Google Shape;113;p5"/>
          <p:cNvCxnSpPr/>
          <p:nvPr/>
        </p:nvCxnSpPr>
        <p:spPr>
          <a:xfrm>
            <a:off x="2586038" y="2066553"/>
            <a:ext cx="0" cy="966862"/>
          </a:xfrm>
          <a:prstGeom prst="straightConnector1">
            <a:avLst/>
          </a:prstGeom>
          <a:noFill/>
          <a:ln cap="flat" cmpd="sng" w="21425">
            <a:solidFill>
              <a:srgbClr val="1E4D4A"/>
            </a:solidFill>
            <a:prstDash val="solid"/>
            <a:round/>
            <a:headEnd len="sm" w="sm" type="none"/>
            <a:tailEnd len="sm" w="sm" type="none"/>
          </a:ln>
        </p:spPr>
      </p:cxnSp>
      <p:sp>
        <p:nvSpPr>
          <p:cNvPr id="114" name="Google Shape;114;p5"/>
          <p:cNvSpPr/>
          <p:nvPr/>
        </p:nvSpPr>
        <p:spPr>
          <a:xfrm>
            <a:off x="2725341" y="2209428"/>
            <a:ext cx="1653778" cy="2868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1F1F"/>
              </a:buClr>
              <a:buSzPts val="2138"/>
              <a:buFont typeface="Arial"/>
              <a:buNone/>
            </a:pPr>
            <a:r>
              <a:rPr b="1" i="0" lang="en-US" sz="2138" u="none" cap="none" strike="noStrike">
                <a:solidFill>
                  <a:srgbClr val="1F1F1F"/>
                </a:solidFill>
                <a:latin typeface="Arial"/>
                <a:ea typeface="Arial"/>
                <a:cs typeface="Arial"/>
                <a:sym typeface="Arial"/>
              </a:rPr>
              <a:t>5</a:t>
            </a:r>
            <a:r>
              <a:rPr b="1" i="0" lang="en-US" sz="800" u="none" cap="none" strike="noStrike">
                <a:solidFill>
                  <a:srgbClr val="8A8A8A"/>
                </a:solidFill>
                <a:latin typeface="Carlito"/>
                <a:ea typeface="Carlito"/>
                <a:cs typeface="Carlito"/>
                <a:sym typeface="Carlito"/>
              </a:rPr>
              <a:t>days/wk</a:t>
            </a:r>
            <a:endParaRPr b="0" i="0" sz="2138" u="none" cap="none" strike="noStrike">
              <a:solidFill>
                <a:schemeClr val="dk1"/>
              </a:solidFill>
              <a:latin typeface="Calibri"/>
              <a:ea typeface="Calibri"/>
              <a:cs typeface="Calibri"/>
              <a:sym typeface="Calibri"/>
            </a:endParaRPr>
          </a:p>
        </p:txBody>
      </p:sp>
      <p:sp>
        <p:nvSpPr>
          <p:cNvPr id="115" name="Google Shape;115;p5"/>
          <p:cNvSpPr/>
          <p:nvPr/>
        </p:nvSpPr>
        <p:spPr>
          <a:xfrm>
            <a:off x="2725341" y="2523753"/>
            <a:ext cx="1653778" cy="1011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WORKING RHYTHM</a:t>
            </a:r>
            <a:endParaRPr b="0" i="0" sz="800" u="none" cap="none" strike="noStrike">
              <a:solidFill>
                <a:schemeClr val="dk1"/>
              </a:solidFill>
              <a:latin typeface="Calibri"/>
              <a:ea typeface="Calibri"/>
              <a:cs typeface="Calibri"/>
              <a:sym typeface="Calibri"/>
            </a:endParaRPr>
          </a:p>
        </p:txBody>
      </p:sp>
      <p:sp>
        <p:nvSpPr>
          <p:cNvPr id="116" name="Google Shape;116;p5"/>
          <p:cNvSpPr/>
          <p:nvPr/>
        </p:nvSpPr>
        <p:spPr>
          <a:xfrm>
            <a:off x="2725341" y="2652340"/>
            <a:ext cx="1753005" cy="159076"/>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Arial"/>
              <a:buNone/>
            </a:pPr>
            <a:r>
              <a:rPr b="0" i="0" lang="en-US" sz="800" u="none" cap="none" strike="noStrike">
                <a:solidFill>
                  <a:srgbClr val="4A4A4A"/>
                </a:solidFill>
                <a:latin typeface="Arial"/>
                <a:ea typeface="Arial"/>
                <a:cs typeface="Arial"/>
                <a:sym typeface="Arial"/>
              </a:rPr>
              <a:t>Mon–Fri, 10 AM – 6 PM, hybrid</a:t>
            </a:r>
            <a:endParaRPr b="0" i="0" sz="800" u="none" cap="none" strike="noStrike">
              <a:solidFill>
                <a:schemeClr val="dk1"/>
              </a:solidFill>
              <a:latin typeface="Calibri"/>
              <a:ea typeface="Calibri"/>
              <a:cs typeface="Calibri"/>
              <a:sym typeface="Calibri"/>
            </a:endParaRPr>
          </a:p>
        </p:txBody>
      </p:sp>
      <p:sp>
        <p:nvSpPr>
          <p:cNvPr id="117" name="Google Shape;117;p5"/>
          <p:cNvSpPr/>
          <p:nvPr/>
        </p:nvSpPr>
        <p:spPr>
          <a:xfrm>
            <a:off x="4636294" y="2066553"/>
            <a:ext cx="1932384" cy="96686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18" name="Google Shape;118;p5"/>
          <p:cNvCxnSpPr/>
          <p:nvPr/>
        </p:nvCxnSpPr>
        <p:spPr>
          <a:xfrm>
            <a:off x="4647009" y="2066553"/>
            <a:ext cx="0" cy="966862"/>
          </a:xfrm>
          <a:prstGeom prst="straightConnector1">
            <a:avLst/>
          </a:prstGeom>
          <a:noFill/>
          <a:ln cap="flat" cmpd="sng" w="21425">
            <a:solidFill>
              <a:srgbClr val="1E4D4A"/>
            </a:solidFill>
            <a:prstDash val="solid"/>
            <a:round/>
            <a:headEnd len="sm" w="sm" type="none"/>
            <a:tailEnd len="sm" w="sm" type="none"/>
          </a:ln>
        </p:spPr>
      </p:cxnSp>
      <p:sp>
        <p:nvSpPr>
          <p:cNvPr id="119" name="Google Shape;119;p5"/>
          <p:cNvSpPr/>
          <p:nvPr/>
        </p:nvSpPr>
        <p:spPr>
          <a:xfrm>
            <a:off x="4786313" y="2209428"/>
            <a:ext cx="1653778" cy="2868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1F1F"/>
              </a:buClr>
              <a:buSzPts val="2138"/>
              <a:buFont typeface="Arial"/>
              <a:buNone/>
            </a:pPr>
            <a:r>
              <a:rPr b="1" i="0" lang="en-US" sz="2138" u="none" cap="none" strike="noStrike">
                <a:solidFill>
                  <a:srgbClr val="1F1F1F"/>
                </a:solidFill>
                <a:latin typeface="Arial"/>
                <a:ea typeface="Arial"/>
                <a:cs typeface="Arial"/>
                <a:sym typeface="Arial"/>
              </a:rPr>
              <a:t>₹8K</a:t>
            </a:r>
            <a:r>
              <a:rPr b="1" i="0" lang="en-US" sz="800" u="none" cap="none" strike="noStrike">
                <a:solidFill>
                  <a:srgbClr val="8A8A8A"/>
                </a:solidFill>
                <a:latin typeface="Carlito"/>
                <a:ea typeface="Carlito"/>
                <a:cs typeface="Carlito"/>
                <a:sym typeface="Carlito"/>
              </a:rPr>
              <a:t>/mo</a:t>
            </a:r>
            <a:endParaRPr b="0" i="0" sz="2138" u="none" cap="none" strike="noStrike">
              <a:solidFill>
                <a:schemeClr val="dk1"/>
              </a:solidFill>
              <a:latin typeface="Calibri"/>
              <a:ea typeface="Calibri"/>
              <a:cs typeface="Calibri"/>
              <a:sym typeface="Calibri"/>
            </a:endParaRPr>
          </a:p>
        </p:txBody>
      </p:sp>
      <p:sp>
        <p:nvSpPr>
          <p:cNvPr id="120" name="Google Shape;120;p5"/>
          <p:cNvSpPr/>
          <p:nvPr/>
        </p:nvSpPr>
        <p:spPr>
          <a:xfrm>
            <a:off x="4786313" y="2523753"/>
            <a:ext cx="1653778" cy="1011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MONTHLY STIPEND</a:t>
            </a:r>
            <a:endParaRPr b="0" i="0" sz="800" u="none" cap="none" strike="noStrike">
              <a:solidFill>
                <a:schemeClr val="dk1"/>
              </a:solidFill>
              <a:latin typeface="Calibri"/>
              <a:ea typeface="Calibri"/>
              <a:cs typeface="Calibri"/>
              <a:sym typeface="Calibri"/>
            </a:endParaRPr>
          </a:p>
        </p:txBody>
      </p:sp>
      <p:sp>
        <p:nvSpPr>
          <p:cNvPr id="121" name="Google Shape;121;p5"/>
          <p:cNvSpPr/>
          <p:nvPr/>
        </p:nvSpPr>
        <p:spPr>
          <a:xfrm>
            <a:off x="4786313" y="2652340"/>
            <a:ext cx="1653778" cy="2381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Per offer letter INTELYTICA/HR/INTERN/2026/003</a:t>
            </a:r>
            <a:endParaRPr b="0" i="0" sz="800" u="none" cap="none" strike="noStrike">
              <a:solidFill>
                <a:schemeClr val="dk1"/>
              </a:solidFill>
              <a:latin typeface="Calibri"/>
              <a:ea typeface="Calibri"/>
              <a:cs typeface="Calibri"/>
              <a:sym typeface="Calibri"/>
            </a:endParaRPr>
          </a:p>
        </p:txBody>
      </p:sp>
      <p:sp>
        <p:nvSpPr>
          <p:cNvPr id="122" name="Google Shape;122;p5"/>
          <p:cNvSpPr/>
          <p:nvPr/>
        </p:nvSpPr>
        <p:spPr>
          <a:xfrm>
            <a:off x="6697266" y="2066553"/>
            <a:ext cx="1932384" cy="96686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23" name="Google Shape;123;p5"/>
          <p:cNvCxnSpPr/>
          <p:nvPr/>
        </p:nvCxnSpPr>
        <p:spPr>
          <a:xfrm>
            <a:off x="6707981" y="2066553"/>
            <a:ext cx="0" cy="966862"/>
          </a:xfrm>
          <a:prstGeom prst="straightConnector1">
            <a:avLst/>
          </a:prstGeom>
          <a:noFill/>
          <a:ln cap="flat" cmpd="sng" w="21425">
            <a:solidFill>
              <a:srgbClr val="1E4D4A"/>
            </a:solidFill>
            <a:prstDash val="solid"/>
            <a:round/>
            <a:headEnd len="sm" w="sm" type="none"/>
            <a:tailEnd len="sm" w="sm" type="none"/>
          </a:ln>
        </p:spPr>
      </p:cxnSp>
      <p:sp>
        <p:nvSpPr>
          <p:cNvPr id="124" name="Google Shape;124;p5"/>
          <p:cNvSpPr/>
          <p:nvPr/>
        </p:nvSpPr>
        <p:spPr>
          <a:xfrm>
            <a:off x="6847284" y="2209428"/>
            <a:ext cx="1653778" cy="2868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1F1F"/>
              </a:buClr>
              <a:buSzPts val="2138"/>
              <a:buFont typeface="Tinos"/>
              <a:buNone/>
            </a:pPr>
            <a:r>
              <a:rPr b="1" i="0" lang="en-US" sz="2138" u="none" cap="none" strike="noStrike">
                <a:solidFill>
                  <a:srgbClr val="1F1F1F"/>
                </a:solidFill>
                <a:latin typeface="Tinos"/>
                <a:ea typeface="Tinos"/>
                <a:cs typeface="Tinos"/>
                <a:sym typeface="Tinos"/>
              </a:rPr>
              <a:t>DS</a:t>
            </a:r>
            <a:r>
              <a:rPr b="1" i="0" lang="en-US" sz="800" u="none" cap="none" strike="noStrike">
                <a:solidFill>
                  <a:srgbClr val="8A8A8A"/>
                </a:solidFill>
                <a:latin typeface="Carlito"/>
                <a:ea typeface="Carlito"/>
                <a:cs typeface="Carlito"/>
                <a:sym typeface="Carlito"/>
              </a:rPr>
              <a:t>&amp; AI</a:t>
            </a:r>
            <a:endParaRPr b="0" i="0" sz="2138" u="none" cap="none" strike="noStrike">
              <a:solidFill>
                <a:schemeClr val="dk1"/>
              </a:solidFill>
              <a:latin typeface="Calibri"/>
              <a:ea typeface="Calibri"/>
              <a:cs typeface="Calibri"/>
              <a:sym typeface="Calibri"/>
            </a:endParaRPr>
          </a:p>
        </p:txBody>
      </p:sp>
      <p:sp>
        <p:nvSpPr>
          <p:cNvPr id="125" name="Google Shape;125;p5"/>
          <p:cNvSpPr/>
          <p:nvPr/>
        </p:nvSpPr>
        <p:spPr>
          <a:xfrm>
            <a:off x="6847284" y="2523753"/>
            <a:ext cx="1653778" cy="1011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DEPARTMENT</a:t>
            </a:r>
            <a:endParaRPr b="0" i="0" sz="800" u="none" cap="none" strike="noStrike">
              <a:solidFill>
                <a:schemeClr val="dk1"/>
              </a:solidFill>
              <a:latin typeface="Calibri"/>
              <a:ea typeface="Calibri"/>
              <a:cs typeface="Calibri"/>
              <a:sym typeface="Calibri"/>
            </a:endParaRPr>
          </a:p>
        </p:txBody>
      </p:sp>
      <p:sp>
        <p:nvSpPr>
          <p:cNvPr id="126" name="Google Shape;126;p5"/>
          <p:cNvSpPr/>
          <p:nvPr/>
        </p:nvSpPr>
        <p:spPr>
          <a:xfrm>
            <a:off x="6847284" y="2652340"/>
            <a:ext cx="1753005" cy="159076"/>
          </a:xfrm>
          <a:prstGeom prst="rect">
            <a:avLst/>
          </a:prstGeom>
          <a:noFill/>
          <a:ln>
            <a:noFill/>
          </a:ln>
        </p:spPr>
        <p:txBody>
          <a:bodyPr anchorCtr="0" anchor="t" bIns="0" lIns="0" spcFirstLastPara="1" rIns="0" wrap="square" tIns="0">
            <a:noAutofit/>
          </a:bodyPr>
          <a:lstStyle/>
          <a:p>
            <a:pPr indent="0" lvl="0" marL="0" marR="0" rtl="0" algn="l">
              <a:lnSpc>
                <a:spcPct val="144976"/>
              </a:lnSpc>
              <a:spcBef>
                <a:spcPts val="0"/>
              </a:spcBef>
              <a:spcAft>
                <a:spcPts val="0"/>
              </a:spcAft>
              <a:buClr>
                <a:srgbClr val="4A4A4A"/>
              </a:buClr>
              <a:buSzPts val="647"/>
              <a:buFont typeface="Carlito"/>
              <a:buNone/>
            </a:pPr>
            <a:r>
              <a:rPr b="0" i="0" lang="en-US" sz="647" u="none" cap="none" strike="noStrike">
                <a:solidFill>
                  <a:srgbClr val="4A4A4A"/>
                </a:solidFill>
                <a:latin typeface="Carlito"/>
                <a:ea typeface="Carlito"/>
                <a:cs typeface="Carlito"/>
                <a:sym typeface="Carlito"/>
              </a:rPr>
              <a:t>Cross-functional product engineering team</a:t>
            </a:r>
            <a:endParaRPr b="0" i="0" sz="647" u="none" cap="none" strike="noStrike">
              <a:solidFill>
                <a:schemeClr val="dk1"/>
              </a:solidFill>
              <a:latin typeface="Calibri"/>
              <a:ea typeface="Calibri"/>
              <a:cs typeface="Calibri"/>
              <a:sym typeface="Calibri"/>
            </a:endParaRPr>
          </a:p>
        </p:txBody>
      </p:sp>
      <p:sp>
        <p:nvSpPr>
          <p:cNvPr id="127" name="Google Shape;127;p5"/>
          <p:cNvSpPr/>
          <p:nvPr/>
        </p:nvSpPr>
        <p:spPr>
          <a:xfrm>
            <a:off x="514350" y="3233440"/>
            <a:ext cx="4110514" cy="1774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1125"/>
              <a:buFont typeface="Tinos"/>
              <a:buNone/>
            </a:pPr>
            <a:r>
              <a:rPr b="0" i="0" lang="en-US" sz="1125" u="none" cap="none" strike="noStrike">
                <a:solidFill>
                  <a:srgbClr val="1F1F1F"/>
                </a:solidFill>
                <a:latin typeface="Tinos"/>
                <a:ea typeface="Tinos"/>
                <a:cs typeface="Tinos"/>
                <a:sym typeface="Tinos"/>
              </a:rPr>
              <a:t>What the company does</a:t>
            </a:r>
            <a:endParaRPr b="0" i="0" sz="1125" u="none" cap="none" strike="noStrike">
              <a:solidFill>
                <a:schemeClr val="dk1"/>
              </a:solidFill>
              <a:latin typeface="Calibri"/>
              <a:ea typeface="Calibri"/>
              <a:cs typeface="Calibri"/>
              <a:sym typeface="Calibri"/>
            </a:endParaRPr>
          </a:p>
        </p:txBody>
      </p:sp>
      <p:sp>
        <p:nvSpPr>
          <p:cNvPr id="128" name="Google Shape;128;p5"/>
          <p:cNvSpPr/>
          <p:nvPr/>
        </p:nvSpPr>
        <p:spPr>
          <a:xfrm>
            <a:off x="514350" y="3469184"/>
            <a:ext cx="3914775" cy="877570"/>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Intelytica Business Analytics Pvt. Ltd. operates at the intersection of business analytics, machine-learning engineering, and applied generative AI. Its commercial offering spans customer analytics, marketing-resource-management platforms, and bespoke AI agent workflows that translate business problems into deployable decision-support systems for retail and consumer brands.</a:t>
            </a:r>
            <a:endParaRPr b="0" i="0" sz="800" u="none" cap="none" strike="noStrike">
              <a:solidFill>
                <a:schemeClr val="dk1"/>
              </a:solidFill>
              <a:latin typeface="Calibri"/>
              <a:ea typeface="Calibri"/>
              <a:cs typeface="Calibri"/>
              <a:sym typeface="Calibri"/>
            </a:endParaRPr>
          </a:p>
        </p:txBody>
      </p:sp>
      <p:sp>
        <p:nvSpPr>
          <p:cNvPr id="129" name="Google Shape;129;p5"/>
          <p:cNvSpPr/>
          <p:nvPr/>
        </p:nvSpPr>
        <p:spPr>
          <a:xfrm>
            <a:off x="4714875" y="3233440"/>
            <a:ext cx="4110514" cy="1774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1125"/>
              <a:buFont typeface="Tinos"/>
              <a:buNone/>
            </a:pPr>
            <a:r>
              <a:rPr b="0" i="0" lang="en-US" sz="1125" u="none" cap="none" strike="noStrike">
                <a:solidFill>
                  <a:srgbClr val="1F1F1F"/>
                </a:solidFill>
                <a:latin typeface="Tinos"/>
                <a:ea typeface="Tinos"/>
                <a:cs typeface="Tinos"/>
                <a:sym typeface="Tinos"/>
              </a:rPr>
              <a:t>The team I joined</a:t>
            </a:r>
            <a:endParaRPr b="0" i="0" sz="1125" u="none" cap="none" strike="noStrike">
              <a:solidFill>
                <a:schemeClr val="dk1"/>
              </a:solidFill>
              <a:latin typeface="Calibri"/>
              <a:ea typeface="Calibri"/>
              <a:cs typeface="Calibri"/>
              <a:sym typeface="Calibri"/>
            </a:endParaRPr>
          </a:p>
        </p:txBody>
      </p:sp>
      <p:sp>
        <p:nvSpPr>
          <p:cNvPr id="130" name="Google Shape;130;p5"/>
          <p:cNvSpPr/>
          <p:nvPr/>
        </p:nvSpPr>
        <p:spPr>
          <a:xfrm>
            <a:off x="4714875" y="3469184"/>
            <a:ext cx="3914775" cy="1053084"/>
          </a:xfrm>
          <a:prstGeom prst="rect">
            <a:avLst/>
          </a:prstGeom>
          <a:noFill/>
          <a:ln>
            <a:noFill/>
          </a:ln>
        </p:spPr>
        <p:txBody>
          <a:bodyPr anchorCtr="0" anchor="t" bIns="0" lIns="0" spcFirstLastPara="1" rIns="0" wrap="square" tIns="0">
            <a:noAutofit/>
          </a:bodyPr>
          <a:lstStyle/>
          <a:p>
            <a:pPr indent="0" lvl="0" marL="0" marR="0" rtl="0" algn="l">
              <a:lnSpc>
                <a:spcPct val="15187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The Data Science and AI department owns the Prism platform. The team is structured as a small, cross-functional product engineering unit: backend engineers (Python/FastAPI), frontend engineers (React/TypeScript), AI/ML engineers (model integration and prompt engineering), and a product lead. Interns are inducted into the same engineering rhythm as full-time engineers — daily stand-ups, weekly sprints, code reviews via pull requests, and structured mentorship.</a:t>
            </a:r>
            <a:endParaRPr b="0" i="0" sz="800" u="none" cap="none" strike="noStrike">
              <a:solidFill>
                <a:schemeClr val="dk1"/>
              </a:solidFill>
              <a:latin typeface="Calibri"/>
              <a:ea typeface="Calibri"/>
              <a:cs typeface="Calibri"/>
              <a:sym typeface="Calibri"/>
            </a:endParaRPr>
          </a:p>
        </p:txBody>
      </p:sp>
      <p:cxnSp>
        <p:nvCxnSpPr>
          <p:cNvPr id="131" name="Google Shape;131;p5"/>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132" name="Google Shape;132;p5"/>
          <p:cNvSpPr/>
          <p:nvPr/>
        </p:nvSpPr>
        <p:spPr>
          <a:xfrm>
            <a:off x="514350" y="4893469"/>
            <a:ext cx="673097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INTELYTICA</a:t>
            </a:r>
            <a:r>
              <a:rPr b="0" i="0" lang="en-US" sz="800" u="none" cap="none" strike="noStrike">
                <a:solidFill>
                  <a:srgbClr val="8A8A8A"/>
                </a:solidFill>
                <a:latin typeface="Carlito"/>
                <a:ea typeface="Carlito"/>
                <a:cs typeface="Carlito"/>
                <a:sym typeface="Carlito"/>
              </a:rPr>
              <a:t> BUSINESS ANALYTICS PVT. LTD. · HYDERABAD, TELANGANA</a:t>
            </a:r>
            <a:endParaRPr b="0" i="0" sz="800" u="none" cap="none" strike="noStrike">
              <a:solidFill>
                <a:schemeClr val="dk1"/>
              </a:solidFill>
              <a:latin typeface="Calibri"/>
              <a:ea typeface="Calibri"/>
              <a:cs typeface="Calibri"/>
              <a:sym typeface="Calibri"/>
            </a:endParaRPr>
          </a:p>
        </p:txBody>
      </p:sp>
      <p:sp>
        <p:nvSpPr>
          <p:cNvPr id="133" name="Google Shape;133;p5"/>
          <p:cNvSpPr/>
          <p:nvPr/>
        </p:nvSpPr>
        <p:spPr>
          <a:xfrm>
            <a:off x="7259613" y="4893469"/>
            <a:ext cx="145224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38" name="Shape 138"/>
        <p:cNvGrpSpPr/>
        <p:nvPr/>
      </p:nvGrpSpPr>
      <p:grpSpPr>
        <a:xfrm>
          <a:off x="0" y="0"/>
          <a:ext cx="0" cy="0"/>
          <a:chOff x="0" y="0"/>
          <a:chExt cx="0" cy="0"/>
        </a:xfrm>
      </p:grpSpPr>
      <p:cxnSp>
        <p:nvCxnSpPr>
          <p:cNvPr id="139" name="Google Shape;139;p6"/>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140" name="Google Shape;140;p6"/>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141" name="Google Shape;141;p6"/>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04 / 12</a:t>
            </a:r>
            <a:endParaRPr b="0" i="0" sz="800" u="none" cap="none" strike="noStrike">
              <a:solidFill>
                <a:schemeClr val="dk1"/>
              </a:solidFill>
              <a:latin typeface="Calibri"/>
              <a:ea typeface="Calibri"/>
              <a:cs typeface="Calibri"/>
              <a:sym typeface="Calibri"/>
            </a:endParaRPr>
          </a:p>
        </p:txBody>
      </p:sp>
      <p:sp>
        <p:nvSpPr>
          <p:cNvPr id="142" name="Google Shape;142;p6"/>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THE PRODUCT</a:t>
            </a:r>
            <a:endParaRPr b="0" i="0" sz="800" u="none" cap="none" strike="noStrike">
              <a:solidFill>
                <a:schemeClr val="dk1"/>
              </a:solidFill>
              <a:latin typeface="Calibri"/>
              <a:ea typeface="Calibri"/>
              <a:cs typeface="Calibri"/>
              <a:sym typeface="Calibri"/>
            </a:endParaRPr>
          </a:p>
        </p:txBody>
      </p:sp>
      <p:sp>
        <p:nvSpPr>
          <p:cNvPr id="143" name="Google Shape;143;p6"/>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Prism — a creative generation platform for jewellery retail</a:t>
            </a:r>
            <a:endParaRPr b="0" i="0" sz="2363" u="none" cap="none" strike="noStrike">
              <a:solidFill>
                <a:schemeClr val="dk1"/>
              </a:solidFill>
              <a:latin typeface="Calibri"/>
              <a:ea typeface="Calibri"/>
              <a:cs typeface="Calibri"/>
              <a:sym typeface="Calibri"/>
            </a:endParaRPr>
          </a:p>
        </p:txBody>
      </p:sp>
      <p:sp>
        <p:nvSpPr>
          <p:cNvPr id="144" name="Google Shape;144;p6"/>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A web application that lets a jewellery retailer's marketing team turn a one-line campaign idea into a complete, ready-to-post creative package — in minutes, not days.</a:t>
            </a:r>
            <a:endParaRPr b="0" i="0" sz="1069" u="none" cap="none" strike="noStrike">
              <a:solidFill>
                <a:schemeClr val="dk1"/>
              </a:solidFill>
              <a:latin typeface="Calibri"/>
              <a:ea typeface="Calibri"/>
              <a:cs typeface="Calibri"/>
              <a:sym typeface="Calibri"/>
            </a:endParaRPr>
          </a:p>
        </p:txBody>
      </p:sp>
      <p:sp>
        <p:nvSpPr>
          <p:cNvPr id="145" name="Google Shape;145;p6"/>
          <p:cNvSpPr/>
          <p:nvPr/>
        </p:nvSpPr>
        <p:spPr>
          <a:xfrm>
            <a:off x="514350" y="2023690"/>
            <a:ext cx="2619301" cy="971550"/>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6" name="Google Shape;146;p6"/>
          <p:cNvCxnSpPr/>
          <p:nvPr/>
        </p:nvCxnSpPr>
        <p:spPr>
          <a:xfrm>
            <a:off x="525066" y="2023690"/>
            <a:ext cx="0" cy="971550"/>
          </a:xfrm>
          <a:prstGeom prst="straightConnector1">
            <a:avLst/>
          </a:prstGeom>
          <a:noFill/>
          <a:ln cap="flat" cmpd="sng" w="21425">
            <a:solidFill>
              <a:srgbClr val="1E4D4A"/>
            </a:solidFill>
            <a:prstDash val="solid"/>
            <a:round/>
            <a:headEnd len="sm" w="sm" type="none"/>
            <a:tailEnd len="sm" w="sm" type="none"/>
          </a:ln>
        </p:spPr>
      </p:cxnSp>
      <p:sp>
        <p:nvSpPr>
          <p:cNvPr id="147" name="Google Shape;147;p6"/>
          <p:cNvSpPr/>
          <p:nvPr/>
        </p:nvSpPr>
        <p:spPr>
          <a:xfrm>
            <a:off x="678656" y="2152278"/>
            <a:ext cx="2312119"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ourier New"/>
              <a:buNone/>
            </a:pPr>
            <a:r>
              <a:rPr b="0" i="0" lang="en-US" sz="800" u="none" cap="none" strike="noStrike">
                <a:solidFill>
                  <a:srgbClr val="1E4D4A"/>
                </a:solidFill>
                <a:latin typeface="Courier New"/>
                <a:ea typeface="Courier New"/>
                <a:cs typeface="Courier New"/>
                <a:sym typeface="Courier New"/>
              </a:rPr>
              <a:t>INTELLIGENCE</a:t>
            </a:r>
            <a:endParaRPr b="0" i="0" sz="800" u="none" cap="none" strike="noStrike">
              <a:solidFill>
                <a:schemeClr val="dk1"/>
              </a:solidFill>
              <a:latin typeface="Calibri"/>
              <a:ea typeface="Calibri"/>
              <a:cs typeface="Calibri"/>
              <a:sym typeface="Calibri"/>
            </a:endParaRPr>
          </a:p>
        </p:txBody>
      </p:sp>
      <p:sp>
        <p:nvSpPr>
          <p:cNvPr id="148" name="Google Shape;148;p6"/>
          <p:cNvSpPr/>
          <p:nvPr/>
        </p:nvSpPr>
        <p:spPr>
          <a:xfrm>
            <a:off x="678656" y="2288009"/>
            <a:ext cx="2312119" cy="1620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Market + Strategy</a:t>
            </a:r>
            <a:endParaRPr b="0" i="0" sz="1013" u="none" cap="none" strike="noStrike">
              <a:solidFill>
                <a:schemeClr val="dk1"/>
              </a:solidFill>
              <a:latin typeface="Calibri"/>
              <a:ea typeface="Calibri"/>
              <a:cs typeface="Calibri"/>
              <a:sym typeface="Calibri"/>
            </a:endParaRPr>
          </a:p>
        </p:txBody>
      </p:sp>
      <p:sp>
        <p:nvSpPr>
          <p:cNvPr id="149" name="Google Shape;149;p6"/>
          <p:cNvSpPr/>
          <p:nvPr/>
        </p:nvSpPr>
        <p:spPr>
          <a:xfrm>
            <a:off x="678656" y="2480890"/>
            <a:ext cx="2312119" cy="385763"/>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Trends, competitor moves, local catchment insight, moodboard direction, campaign themes, and per-segment customer journeys.</a:t>
            </a:r>
            <a:endParaRPr b="0" i="0" sz="800" u="none" cap="none" strike="noStrike">
              <a:solidFill>
                <a:schemeClr val="dk1"/>
              </a:solidFill>
              <a:latin typeface="Calibri"/>
              <a:ea typeface="Calibri"/>
              <a:cs typeface="Calibri"/>
              <a:sym typeface="Calibri"/>
            </a:endParaRPr>
          </a:p>
        </p:txBody>
      </p:sp>
      <p:sp>
        <p:nvSpPr>
          <p:cNvPr id="150" name="Google Shape;150;p6"/>
          <p:cNvSpPr/>
          <p:nvPr/>
        </p:nvSpPr>
        <p:spPr>
          <a:xfrm>
            <a:off x="3262238" y="2023690"/>
            <a:ext cx="2619412" cy="971550"/>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51" name="Google Shape;151;p6"/>
          <p:cNvCxnSpPr/>
          <p:nvPr/>
        </p:nvCxnSpPr>
        <p:spPr>
          <a:xfrm>
            <a:off x="3272954" y="2023690"/>
            <a:ext cx="0" cy="971550"/>
          </a:xfrm>
          <a:prstGeom prst="straightConnector1">
            <a:avLst/>
          </a:prstGeom>
          <a:noFill/>
          <a:ln cap="flat" cmpd="sng" w="21425">
            <a:solidFill>
              <a:srgbClr val="1E4D4A"/>
            </a:solidFill>
            <a:prstDash val="solid"/>
            <a:round/>
            <a:headEnd len="sm" w="sm" type="none"/>
            <a:tailEnd len="sm" w="sm" type="none"/>
          </a:ln>
        </p:spPr>
      </p:cxnSp>
      <p:sp>
        <p:nvSpPr>
          <p:cNvPr id="152" name="Google Shape;152;p6"/>
          <p:cNvSpPr/>
          <p:nvPr/>
        </p:nvSpPr>
        <p:spPr>
          <a:xfrm>
            <a:off x="3426544" y="2152278"/>
            <a:ext cx="2312231"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ourier New"/>
              <a:buNone/>
            </a:pPr>
            <a:r>
              <a:rPr b="0" i="0" lang="en-US" sz="800" u="none" cap="none" strike="noStrike">
                <a:solidFill>
                  <a:srgbClr val="1E4D4A"/>
                </a:solidFill>
                <a:latin typeface="Courier New"/>
                <a:ea typeface="Courier New"/>
                <a:cs typeface="Courier New"/>
                <a:sym typeface="Courier New"/>
              </a:rPr>
              <a:t>COPY</a:t>
            </a:r>
            <a:endParaRPr b="0" i="0" sz="800" u="none" cap="none" strike="noStrike">
              <a:solidFill>
                <a:schemeClr val="dk1"/>
              </a:solidFill>
              <a:latin typeface="Calibri"/>
              <a:ea typeface="Calibri"/>
              <a:cs typeface="Calibri"/>
              <a:sym typeface="Calibri"/>
            </a:endParaRPr>
          </a:p>
        </p:txBody>
      </p:sp>
      <p:sp>
        <p:nvSpPr>
          <p:cNvPr id="153" name="Google Shape;153;p6"/>
          <p:cNvSpPr/>
          <p:nvPr/>
        </p:nvSpPr>
        <p:spPr>
          <a:xfrm>
            <a:off x="3426544" y="2288009"/>
            <a:ext cx="2312231" cy="1620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Channel-ready text</a:t>
            </a:r>
            <a:endParaRPr b="0" i="0" sz="1013" u="none" cap="none" strike="noStrike">
              <a:solidFill>
                <a:schemeClr val="dk1"/>
              </a:solidFill>
              <a:latin typeface="Calibri"/>
              <a:ea typeface="Calibri"/>
              <a:cs typeface="Calibri"/>
              <a:sym typeface="Calibri"/>
            </a:endParaRPr>
          </a:p>
        </p:txBody>
      </p:sp>
      <p:sp>
        <p:nvSpPr>
          <p:cNvPr id="154" name="Google Shape;154;p6"/>
          <p:cNvSpPr/>
          <p:nvPr/>
        </p:nvSpPr>
        <p:spPr>
          <a:xfrm>
            <a:off x="3426544" y="2480890"/>
            <a:ext cx="2312231" cy="385763"/>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Instagram hooks/carousels/stories, WhatsApp broadcasts, catalogue narrative, and Meta ad copy — brand voice baked in.</a:t>
            </a:r>
            <a:endParaRPr b="0" i="0" sz="800" u="none" cap="none" strike="noStrike">
              <a:solidFill>
                <a:schemeClr val="dk1"/>
              </a:solidFill>
              <a:latin typeface="Calibri"/>
              <a:ea typeface="Calibri"/>
              <a:cs typeface="Calibri"/>
              <a:sym typeface="Calibri"/>
            </a:endParaRPr>
          </a:p>
        </p:txBody>
      </p:sp>
      <p:sp>
        <p:nvSpPr>
          <p:cNvPr id="155" name="Google Shape;155;p6"/>
          <p:cNvSpPr/>
          <p:nvPr/>
        </p:nvSpPr>
        <p:spPr>
          <a:xfrm>
            <a:off x="6010238" y="2023690"/>
            <a:ext cx="2619301" cy="971550"/>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56" name="Google Shape;156;p6"/>
          <p:cNvCxnSpPr/>
          <p:nvPr/>
        </p:nvCxnSpPr>
        <p:spPr>
          <a:xfrm>
            <a:off x="6020953" y="2023690"/>
            <a:ext cx="0" cy="971550"/>
          </a:xfrm>
          <a:prstGeom prst="straightConnector1">
            <a:avLst/>
          </a:prstGeom>
          <a:noFill/>
          <a:ln cap="flat" cmpd="sng" w="21425">
            <a:solidFill>
              <a:srgbClr val="1E4D4A"/>
            </a:solidFill>
            <a:prstDash val="solid"/>
            <a:round/>
            <a:headEnd len="sm" w="sm" type="none"/>
            <a:tailEnd len="sm" w="sm" type="none"/>
          </a:ln>
        </p:spPr>
      </p:cxnSp>
      <p:sp>
        <p:nvSpPr>
          <p:cNvPr id="157" name="Google Shape;157;p6"/>
          <p:cNvSpPr/>
          <p:nvPr/>
        </p:nvSpPr>
        <p:spPr>
          <a:xfrm>
            <a:off x="6174544" y="2152278"/>
            <a:ext cx="2312119" cy="10829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ourier New"/>
              <a:buNone/>
            </a:pPr>
            <a:r>
              <a:rPr b="0" i="0" lang="en-US" sz="800" u="none" cap="none" strike="noStrike">
                <a:solidFill>
                  <a:srgbClr val="1E4D4A"/>
                </a:solidFill>
                <a:latin typeface="Courier New"/>
                <a:ea typeface="Courier New"/>
                <a:cs typeface="Courier New"/>
                <a:sym typeface="Courier New"/>
              </a:rPr>
              <a:t>VISUALS</a:t>
            </a:r>
            <a:endParaRPr b="0" i="0" sz="800" u="none" cap="none" strike="noStrike">
              <a:solidFill>
                <a:schemeClr val="dk1"/>
              </a:solidFill>
              <a:latin typeface="Calibri"/>
              <a:ea typeface="Calibri"/>
              <a:cs typeface="Calibri"/>
              <a:sym typeface="Calibri"/>
            </a:endParaRPr>
          </a:p>
        </p:txBody>
      </p:sp>
      <p:sp>
        <p:nvSpPr>
          <p:cNvPr id="158" name="Google Shape;158;p6"/>
          <p:cNvSpPr/>
          <p:nvPr/>
        </p:nvSpPr>
        <p:spPr>
          <a:xfrm>
            <a:off x="6174544" y="2288009"/>
            <a:ext cx="2312119" cy="1620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Scripts, Images, Video</a:t>
            </a:r>
            <a:endParaRPr b="0" i="0" sz="1013" u="none" cap="none" strike="noStrike">
              <a:solidFill>
                <a:schemeClr val="dk1"/>
              </a:solidFill>
              <a:latin typeface="Calibri"/>
              <a:ea typeface="Calibri"/>
              <a:cs typeface="Calibri"/>
              <a:sym typeface="Calibri"/>
            </a:endParaRPr>
          </a:p>
        </p:txBody>
      </p:sp>
      <p:sp>
        <p:nvSpPr>
          <p:cNvPr id="159" name="Google Shape;159;p6"/>
          <p:cNvSpPr/>
          <p:nvPr/>
        </p:nvSpPr>
        <p:spPr>
          <a:xfrm>
            <a:off x="6174544" y="2480890"/>
            <a:ext cx="2312119" cy="385763"/>
          </a:xfrm>
          <a:prstGeom prst="rect">
            <a:avLst/>
          </a:prstGeom>
          <a:noFill/>
          <a:ln>
            <a:noFill/>
          </a:ln>
        </p:spPr>
        <p:txBody>
          <a:bodyPr anchorCtr="0" anchor="t" bIns="0" lIns="0" spcFirstLastPara="1" rIns="0" wrap="square" tIns="0">
            <a:noAutofit/>
          </a:bodyPr>
          <a:lstStyle/>
          <a:p>
            <a:pPr indent="0" lvl="0" marL="0" marR="0" rtl="0" algn="l">
              <a:lnSpc>
                <a:spcPct val="126625"/>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5 editable reel scripts, hero/model/catalog product shots, cinematic scene images, animated reels, and jewellery ad videos.</a:t>
            </a:r>
            <a:endParaRPr b="0" i="0" sz="800" u="none" cap="none" strike="noStrike">
              <a:solidFill>
                <a:schemeClr val="dk1"/>
              </a:solidFill>
              <a:latin typeface="Calibri"/>
              <a:ea typeface="Calibri"/>
              <a:cs typeface="Calibri"/>
              <a:sym typeface="Calibri"/>
            </a:endParaRPr>
          </a:p>
        </p:txBody>
      </p:sp>
      <p:sp>
        <p:nvSpPr>
          <p:cNvPr id="160" name="Google Shape;160;p6"/>
          <p:cNvSpPr/>
          <p:nvPr/>
        </p:nvSpPr>
        <p:spPr>
          <a:xfrm>
            <a:off x="514350" y="3152403"/>
            <a:ext cx="8115300" cy="609228"/>
          </a:xfrm>
          <a:prstGeom prst="rect">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1" name="Google Shape;161;p6"/>
          <p:cNvSpPr/>
          <p:nvPr/>
        </p:nvSpPr>
        <p:spPr>
          <a:xfrm>
            <a:off x="671513" y="3280990"/>
            <a:ext cx="7800975" cy="352053"/>
          </a:xfrm>
          <a:prstGeom prst="rect">
            <a:avLst/>
          </a:prstGeom>
          <a:noFill/>
          <a:ln>
            <a:noFill/>
          </a:ln>
        </p:spPr>
        <p:txBody>
          <a:bodyPr anchorCtr="0" anchor="t" bIns="0" lIns="0" spcFirstLastPara="1" rIns="0" wrap="square" tIns="0">
            <a:noAutofit/>
          </a:bodyPr>
          <a:lstStyle/>
          <a:p>
            <a:pPr indent="0" lvl="0" marL="0" marR="0" rtl="0" algn="l">
              <a:lnSpc>
                <a:spcPct val="145083"/>
              </a:lnSpc>
              <a:spcBef>
                <a:spcPts val="0"/>
              </a:spcBef>
              <a:spcAft>
                <a:spcPts val="0"/>
              </a:spcAft>
              <a:buClr>
                <a:srgbClr val="FAF8F3"/>
              </a:buClr>
              <a:buSzPts val="956"/>
              <a:buFont typeface="Tinos"/>
              <a:buNone/>
            </a:pPr>
            <a:r>
              <a:rPr b="0" i="1" lang="en-US" sz="956" u="none" cap="none" strike="noStrike">
                <a:solidFill>
                  <a:srgbClr val="FAF8F3"/>
                </a:solidFill>
                <a:latin typeface="Tinos"/>
                <a:ea typeface="Tinos"/>
                <a:cs typeface="Tinos"/>
                <a:sym typeface="Tinos"/>
              </a:rPr>
              <a:t>“The system's defining trait is </a:t>
            </a:r>
            <a:r>
              <a:rPr b="0" i="1" lang="en-US" sz="956" u="none" cap="none" strike="noStrike">
                <a:solidFill>
                  <a:srgbClr val="D8E4E2"/>
                </a:solidFill>
                <a:latin typeface="Tinos"/>
                <a:ea typeface="Tinos"/>
                <a:cs typeface="Tinos"/>
                <a:sym typeface="Tinos"/>
              </a:rPr>
              <a:t>jewellery identity preservation</a:t>
            </a:r>
            <a:r>
              <a:rPr b="0" i="1" lang="en-US" sz="956" u="none" cap="none" strike="noStrike">
                <a:solidFill>
                  <a:srgbClr val="FAF8F3"/>
                </a:solidFill>
                <a:latin typeface="Tinos"/>
                <a:ea typeface="Tinos"/>
                <a:cs typeface="Tinos"/>
                <a:sym typeface="Tinos"/>
              </a:rPr>
              <a:t> — the exact uploaded piece, its metal, gemstones, proportions and design, must survive through every AI generation without being redesigned.”</a:t>
            </a:r>
            <a:endParaRPr b="0" i="0" sz="956" u="none" cap="none" strike="noStrike">
              <a:solidFill>
                <a:schemeClr val="dk1"/>
              </a:solidFill>
              <a:latin typeface="Calibri"/>
              <a:ea typeface="Calibri"/>
              <a:cs typeface="Calibri"/>
              <a:sym typeface="Calibri"/>
            </a:endParaRPr>
          </a:p>
        </p:txBody>
      </p:sp>
      <p:cxnSp>
        <p:nvCxnSpPr>
          <p:cNvPr id="162" name="Google Shape;162;p6"/>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163" name="Google Shape;163;p6"/>
          <p:cNvSpPr/>
          <p:nvPr/>
        </p:nvSpPr>
        <p:spPr>
          <a:xfrm>
            <a:off x="514350" y="4893469"/>
            <a:ext cx="5314057"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PRISM</a:t>
            </a:r>
            <a:r>
              <a:rPr b="0" i="0" lang="en-US" sz="800" u="none" cap="none" strike="noStrike">
                <a:solidFill>
                  <a:srgbClr val="8A8A8A"/>
                </a:solidFill>
                <a:latin typeface="Carlito"/>
                <a:ea typeface="Carlito"/>
                <a:cs typeface="Carlito"/>
                <a:sym typeface="Carlito"/>
              </a:rPr>
              <a:t> · BRANDED IN LEAD DEPLOYMENT AS JD SOLITAIRES MARKETING PLATFORM</a:t>
            </a:r>
            <a:endParaRPr b="0" i="0" sz="800" u="none" cap="none" strike="noStrike">
              <a:solidFill>
                <a:schemeClr val="dk1"/>
              </a:solidFill>
              <a:latin typeface="Calibri"/>
              <a:ea typeface="Calibri"/>
              <a:cs typeface="Calibri"/>
              <a:sym typeface="Calibri"/>
            </a:endParaRPr>
          </a:p>
        </p:txBody>
      </p:sp>
      <p:sp>
        <p:nvSpPr>
          <p:cNvPr id="164" name="Google Shape;164;p6"/>
          <p:cNvSpPr/>
          <p:nvPr/>
        </p:nvSpPr>
        <p:spPr>
          <a:xfrm>
            <a:off x="5842695" y="4893469"/>
            <a:ext cx="278695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rPr b="0" i="0" lang="en-US" sz="600" u="none" cap="none" strike="noStrike">
                <a:solidFill>
                  <a:srgbClr val="8A8A8A"/>
                </a:solidFill>
                <a:latin typeface="Carlito"/>
                <a:ea typeface="Carlito"/>
                <a:cs typeface="Carlito"/>
                <a:sym typeface="Carlito"/>
              </a:rPr>
              <a:t>CREATIVE GENERATION MODULE · QUICK ANALYSIS FAST-LANE</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169" name="Shape 169"/>
        <p:cNvGrpSpPr/>
        <p:nvPr/>
      </p:nvGrpSpPr>
      <p:grpSpPr>
        <a:xfrm>
          <a:off x="0" y="0"/>
          <a:ext cx="0" cy="0"/>
          <a:chOff x="0" y="0"/>
          <a:chExt cx="0" cy="0"/>
        </a:xfrm>
      </p:grpSpPr>
      <p:cxnSp>
        <p:nvCxnSpPr>
          <p:cNvPr id="170" name="Google Shape;170;p7"/>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171" name="Google Shape;171;p7"/>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172" name="Google Shape;172;p7"/>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05 / 12</a:t>
            </a:r>
            <a:endParaRPr b="0" i="0" sz="800" u="none" cap="none" strike="noStrike">
              <a:solidFill>
                <a:schemeClr val="dk1"/>
              </a:solidFill>
              <a:latin typeface="Calibri"/>
              <a:ea typeface="Calibri"/>
              <a:cs typeface="Calibri"/>
              <a:sym typeface="Calibri"/>
            </a:endParaRPr>
          </a:p>
        </p:txBody>
      </p:sp>
      <p:sp>
        <p:nvSpPr>
          <p:cNvPr id="173" name="Google Shape;173;p7"/>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THE BUSINESS PROBLEM</a:t>
            </a:r>
            <a:endParaRPr b="0" i="0" sz="800" u="none" cap="none" strike="noStrike">
              <a:solidFill>
                <a:schemeClr val="dk1"/>
              </a:solidFill>
              <a:latin typeface="Calibri"/>
              <a:ea typeface="Calibri"/>
              <a:cs typeface="Calibri"/>
              <a:sym typeface="Calibri"/>
            </a:endParaRPr>
          </a:p>
        </p:txBody>
      </p:sp>
      <p:sp>
        <p:nvSpPr>
          <p:cNvPr id="174" name="Google Shape;174;p7"/>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Four problems Prism was built to solve</a:t>
            </a:r>
            <a:endParaRPr b="0" i="0" sz="2363" u="none" cap="none" strike="noStrike">
              <a:solidFill>
                <a:schemeClr val="dk1"/>
              </a:solidFill>
              <a:latin typeface="Calibri"/>
              <a:ea typeface="Calibri"/>
              <a:cs typeface="Calibri"/>
              <a:sym typeface="Calibri"/>
            </a:endParaRPr>
          </a:p>
        </p:txBody>
      </p:sp>
      <p:sp>
        <p:nvSpPr>
          <p:cNvPr id="175" name="Google Shape;175;p7"/>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The jewellery retail vertical in India presents a marketing problem unusually well-suited to generative AI — and unusually poorly served by the existing creative-supply chain.</a:t>
            </a:r>
            <a:endParaRPr b="0" i="0" sz="1069" u="none" cap="none" strike="noStrike">
              <a:solidFill>
                <a:schemeClr val="dk1"/>
              </a:solidFill>
              <a:latin typeface="Calibri"/>
              <a:ea typeface="Calibri"/>
              <a:cs typeface="Calibri"/>
              <a:sym typeface="Calibri"/>
            </a:endParaRPr>
          </a:p>
        </p:txBody>
      </p:sp>
      <p:sp>
        <p:nvSpPr>
          <p:cNvPr id="176" name="Google Shape;176;p7"/>
          <p:cNvSpPr/>
          <p:nvPr/>
        </p:nvSpPr>
        <p:spPr>
          <a:xfrm>
            <a:off x="514350" y="1923678"/>
            <a:ext cx="3993356" cy="134559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77" name="Google Shape;177;p7"/>
          <p:cNvCxnSpPr/>
          <p:nvPr/>
        </p:nvCxnSpPr>
        <p:spPr>
          <a:xfrm>
            <a:off x="514350" y="1934394"/>
            <a:ext cx="3993356" cy="0"/>
          </a:xfrm>
          <a:prstGeom prst="straightConnector1">
            <a:avLst/>
          </a:prstGeom>
          <a:noFill/>
          <a:ln cap="flat" cmpd="sng" w="21425">
            <a:solidFill>
              <a:srgbClr val="1E4D4A"/>
            </a:solidFill>
            <a:prstDash val="solid"/>
            <a:round/>
            <a:headEnd len="sm" w="sm" type="none"/>
            <a:tailEnd len="sm" w="sm" type="none"/>
          </a:ln>
        </p:spPr>
      </p:cxnSp>
      <p:sp>
        <p:nvSpPr>
          <p:cNvPr id="178" name="Google Shape;178;p7"/>
          <p:cNvSpPr/>
          <p:nvPr/>
        </p:nvSpPr>
        <p:spPr>
          <a:xfrm>
            <a:off x="685800" y="2102272"/>
            <a:ext cx="3650456" cy="940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PROBLEM 01</a:t>
            </a:r>
            <a:endParaRPr b="0" i="0" sz="800" u="none" cap="none" strike="noStrike">
              <a:solidFill>
                <a:schemeClr val="dk1"/>
              </a:solidFill>
              <a:latin typeface="Calibri"/>
              <a:ea typeface="Calibri"/>
              <a:cs typeface="Calibri"/>
              <a:sym typeface="Calibri"/>
            </a:endParaRPr>
          </a:p>
        </p:txBody>
      </p:sp>
      <p:sp>
        <p:nvSpPr>
          <p:cNvPr id="179" name="Google Shape;179;p7"/>
          <p:cNvSpPr/>
          <p:nvPr/>
        </p:nvSpPr>
        <p:spPr>
          <a:xfrm>
            <a:off x="685800" y="2223715"/>
            <a:ext cx="3650456" cy="195172"/>
          </a:xfrm>
          <a:prstGeom prst="rect">
            <a:avLst/>
          </a:prstGeom>
          <a:noFill/>
          <a:ln>
            <a:noFill/>
          </a:ln>
        </p:spPr>
        <p:txBody>
          <a:bodyPr anchorCtr="0" anchor="t" bIns="0" lIns="0" spcFirstLastPara="1" rIns="0" wrap="square" tIns="0">
            <a:noAutofit/>
          </a:bodyPr>
          <a:lstStyle/>
          <a:p>
            <a:pPr indent="0" lvl="0" marL="0" marR="0" rtl="0" algn="l">
              <a:lnSpc>
                <a:spcPct val="114943"/>
              </a:lnSpc>
              <a:spcBef>
                <a:spcPts val="0"/>
              </a:spcBef>
              <a:spcAft>
                <a:spcPts val="0"/>
              </a:spcAft>
              <a:buClr>
                <a:srgbClr val="1F1F1F"/>
              </a:buClr>
              <a:buSzPts val="1238"/>
              <a:buFont typeface="Tinos"/>
              <a:buNone/>
            </a:pPr>
            <a:r>
              <a:rPr b="1" i="0" lang="en-US" sz="1238" u="none" cap="none" strike="noStrike">
                <a:solidFill>
                  <a:srgbClr val="1F1F1F"/>
                </a:solidFill>
                <a:latin typeface="Tinos"/>
                <a:ea typeface="Tinos"/>
                <a:cs typeface="Tinos"/>
                <a:sym typeface="Tinos"/>
              </a:rPr>
              <a:t>Cadence</a:t>
            </a:r>
            <a:endParaRPr b="0" i="0" sz="1238" u="none" cap="none" strike="noStrike">
              <a:solidFill>
                <a:schemeClr val="dk1"/>
              </a:solidFill>
              <a:latin typeface="Calibri"/>
              <a:ea typeface="Calibri"/>
              <a:cs typeface="Calibri"/>
              <a:sym typeface="Calibri"/>
            </a:endParaRPr>
          </a:p>
        </p:txBody>
      </p:sp>
      <p:sp>
        <p:nvSpPr>
          <p:cNvPr id="180" name="Google Shape;180;p7"/>
          <p:cNvSpPr/>
          <p:nvPr/>
        </p:nvSpPr>
        <p:spPr>
          <a:xfrm>
            <a:off x="685800" y="2461580"/>
            <a:ext cx="3650456" cy="510235"/>
          </a:xfrm>
          <a:prstGeom prst="rect">
            <a:avLst/>
          </a:prstGeom>
          <a:noFill/>
          <a:ln>
            <a:noFill/>
          </a:ln>
        </p:spPr>
        <p:txBody>
          <a:bodyPr anchorCtr="0" anchor="t" bIns="0" lIns="0" spcFirstLastPara="1" rIns="0" wrap="square" tIns="0">
            <a:noAutofit/>
          </a:bodyPr>
          <a:lstStyle/>
          <a:p>
            <a:pPr indent="0" lvl="0" marL="0" marR="0" rtl="0" algn="l">
              <a:lnSpc>
                <a:spcPct val="136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A jewellery retailer services 8–10 festival peaks per year, each requiring fresh IG carousels, WhatsApp broadcasts, catalogue narrative, Meta ads, and reels. Agencies, priced for monthly retainers and 3–5 day turnarounds, structurally cannot keep pace.</a:t>
            </a:r>
            <a:endParaRPr b="0" i="0" sz="800" u="none" cap="none" strike="noStrike">
              <a:solidFill>
                <a:schemeClr val="dk1"/>
              </a:solidFill>
              <a:latin typeface="Calibri"/>
              <a:ea typeface="Calibri"/>
              <a:cs typeface="Calibri"/>
              <a:sym typeface="Calibri"/>
            </a:endParaRPr>
          </a:p>
        </p:txBody>
      </p:sp>
      <p:sp>
        <p:nvSpPr>
          <p:cNvPr id="181" name="Google Shape;181;p7"/>
          <p:cNvSpPr/>
          <p:nvPr/>
        </p:nvSpPr>
        <p:spPr>
          <a:xfrm>
            <a:off x="4636294" y="1923678"/>
            <a:ext cx="3993356" cy="134559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2" name="Google Shape;182;p7"/>
          <p:cNvCxnSpPr/>
          <p:nvPr/>
        </p:nvCxnSpPr>
        <p:spPr>
          <a:xfrm>
            <a:off x="4636294" y="1934394"/>
            <a:ext cx="3993356" cy="0"/>
          </a:xfrm>
          <a:prstGeom prst="straightConnector1">
            <a:avLst/>
          </a:prstGeom>
          <a:noFill/>
          <a:ln cap="flat" cmpd="sng" w="21425">
            <a:solidFill>
              <a:srgbClr val="1E4D4A"/>
            </a:solidFill>
            <a:prstDash val="solid"/>
            <a:round/>
            <a:headEnd len="sm" w="sm" type="none"/>
            <a:tailEnd len="sm" w="sm" type="none"/>
          </a:ln>
        </p:spPr>
      </p:cxnSp>
      <p:sp>
        <p:nvSpPr>
          <p:cNvPr id="183" name="Google Shape;183;p7"/>
          <p:cNvSpPr/>
          <p:nvPr/>
        </p:nvSpPr>
        <p:spPr>
          <a:xfrm>
            <a:off x="4807744" y="2102272"/>
            <a:ext cx="3650456" cy="940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PROBLEM 02</a:t>
            </a:r>
            <a:endParaRPr b="0" i="0" sz="800" u="none" cap="none" strike="noStrike">
              <a:solidFill>
                <a:schemeClr val="dk1"/>
              </a:solidFill>
              <a:latin typeface="Calibri"/>
              <a:ea typeface="Calibri"/>
              <a:cs typeface="Calibri"/>
              <a:sym typeface="Calibri"/>
            </a:endParaRPr>
          </a:p>
        </p:txBody>
      </p:sp>
      <p:sp>
        <p:nvSpPr>
          <p:cNvPr id="184" name="Google Shape;184;p7"/>
          <p:cNvSpPr/>
          <p:nvPr/>
        </p:nvSpPr>
        <p:spPr>
          <a:xfrm>
            <a:off x="4807744" y="2223715"/>
            <a:ext cx="3650456" cy="195172"/>
          </a:xfrm>
          <a:prstGeom prst="rect">
            <a:avLst/>
          </a:prstGeom>
          <a:noFill/>
          <a:ln>
            <a:noFill/>
          </a:ln>
        </p:spPr>
        <p:txBody>
          <a:bodyPr anchorCtr="0" anchor="t" bIns="0" lIns="0" spcFirstLastPara="1" rIns="0" wrap="square" tIns="0">
            <a:noAutofit/>
          </a:bodyPr>
          <a:lstStyle/>
          <a:p>
            <a:pPr indent="0" lvl="0" marL="0" marR="0" rtl="0" algn="l">
              <a:lnSpc>
                <a:spcPct val="114943"/>
              </a:lnSpc>
              <a:spcBef>
                <a:spcPts val="0"/>
              </a:spcBef>
              <a:spcAft>
                <a:spcPts val="0"/>
              </a:spcAft>
              <a:buClr>
                <a:srgbClr val="1F1F1F"/>
              </a:buClr>
              <a:buSzPts val="1238"/>
              <a:buFont typeface="Tinos"/>
              <a:buNone/>
            </a:pPr>
            <a:r>
              <a:rPr b="1" i="0" lang="en-US" sz="1238" u="none" cap="none" strike="noStrike">
                <a:solidFill>
                  <a:srgbClr val="1F1F1F"/>
                </a:solidFill>
                <a:latin typeface="Tinos"/>
                <a:ea typeface="Tinos"/>
                <a:cs typeface="Tinos"/>
                <a:sym typeface="Tinos"/>
              </a:rPr>
              <a:t>Product identity</a:t>
            </a:r>
            <a:endParaRPr b="0" i="0" sz="1238" u="none" cap="none" strike="noStrike">
              <a:solidFill>
                <a:schemeClr val="dk1"/>
              </a:solidFill>
              <a:latin typeface="Calibri"/>
              <a:ea typeface="Calibri"/>
              <a:cs typeface="Calibri"/>
              <a:sym typeface="Calibri"/>
            </a:endParaRPr>
          </a:p>
        </p:txBody>
      </p:sp>
      <p:sp>
        <p:nvSpPr>
          <p:cNvPr id="185" name="Google Shape;185;p7"/>
          <p:cNvSpPr/>
          <p:nvPr/>
        </p:nvSpPr>
        <p:spPr>
          <a:xfrm>
            <a:off x="4807744" y="2461580"/>
            <a:ext cx="3650456" cy="510235"/>
          </a:xfrm>
          <a:prstGeom prst="rect">
            <a:avLst/>
          </a:prstGeom>
          <a:noFill/>
          <a:ln>
            <a:noFill/>
          </a:ln>
        </p:spPr>
        <p:txBody>
          <a:bodyPr anchorCtr="0" anchor="t" bIns="0" lIns="0" spcFirstLastPara="1" rIns="0" wrap="square" tIns="0">
            <a:noAutofit/>
          </a:bodyPr>
          <a:lstStyle/>
          <a:p>
            <a:pPr indent="0" lvl="0" marL="0" marR="0" rtl="0" algn="l">
              <a:lnSpc>
                <a:spcPct val="136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Generic text-to-image models redesign the jewellery every time. For a category where the specific design is the hero and the purchase driver, this is fatal. The exact uploaded piece must survive every generation.</a:t>
            </a:r>
            <a:endParaRPr b="0" i="0" sz="800" u="none" cap="none" strike="noStrike">
              <a:solidFill>
                <a:schemeClr val="dk1"/>
              </a:solidFill>
              <a:latin typeface="Calibri"/>
              <a:ea typeface="Calibri"/>
              <a:cs typeface="Calibri"/>
              <a:sym typeface="Calibri"/>
            </a:endParaRPr>
          </a:p>
        </p:txBody>
      </p:sp>
      <p:sp>
        <p:nvSpPr>
          <p:cNvPr id="186" name="Google Shape;186;p7"/>
          <p:cNvSpPr/>
          <p:nvPr/>
        </p:nvSpPr>
        <p:spPr>
          <a:xfrm>
            <a:off x="514350" y="3397858"/>
            <a:ext cx="3993356" cy="134559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7" name="Google Shape;187;p7"/>
          <p:cNvCxnSpPr/>
          <p:nvPr/>
        </p:nvCxnSpPr>
        <p:spPr>
          <a:xfrm>
            <a:off x="514350" y="3408573"/>
            <a:ext cx="3993356" cy="0"/>
          </a:xfrm>
          <a:prstGeom prst="straightConnector1">
            <a:avLst/>
          </a:prstGeom>
          <a:noFill/>
          <a:ln cap="flat" cmpd="sng" w="21425">
            <a:solidFill>
              <a:srgbClr val="1E4D4A"/>
            </a:solidFill>
            <a:prstDash val="solid"/>
            <a:round/>
            <a:headEnd len="sm" w="sm" type="none"/>
            <a:tailEnd len="sm" w="sm" type="none"/>
          </a:ln>
        </p:spPr>
      </p:cxnSp>
      <p:sp>
        <p:nvSpPr>
          <p:cNvPr id="188" name="Google Shape;188;p7"/>
          <p:cNvSpPr/>
          <p:nvPr/>
        </p:nvSpPr>
        <p:spPr>
          <a:xfrm>
            <a:off x="685800" y="3576451"/>
            <a:ext cx="3650456" cy="940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PROBLEM 03</a:t>
            </a:r>
            <a:endParaRPr b="0" i="0" sz="800" u="none" cap="none" strike="noStrike">
              <a:solidFill>
                <a:schemeClr val="dk1"/>
              </a:solidFill>
              <a:latin typeface="Calibri"/>
              <a:ea typeface="Calibri"/>
              <a:cs typeface="Calibri"/>
              <a:sym typeface="Calibri"/>
            </a:endParaRPr>
          </a:p>
        </p:txBody>
      </p:sp>
      <p:sp>
        <p:nvSpPr>
          <p:cNvPr id="189" name="Google Shape;189;p7"/>
          <p:cNvSpPr/>
          <p:nvPr/>
        </p:nvSpPr>
        <p:spPr>
          <a:xfrm>
            <a:off x="685800" y="3697895"/>
            <a:ext cx="3760184" cy="195172"/>
          </a:xfrm>
          <a:prstGeom prst="rect">
            <a:avLst/>
          </a:prstGeom>
          <a:noFill/>
          <a:ln>
            <a:noFill/>
          </a:ln>
        </p:spPr>
        <p:txBody>
          <a:bodyPr anchorCtr="0" anchor="t" bIns="0" lIns="0" spcFirstLastPara="1" rIns="0" wrap="square" tIns="0">
            <a:noAutofit/>
          </a:bodyPr>
          <a:lstStyle/>
          <a:p>
            <a:pPr indent="0" lvl="0" marL="0" marR="0" rtl="0" algn="l">
              <a:lnSpc>
                <a:spcPct val="114943"/>
              </a:lnSpc>
              <a:spcBef>
                <a:spcPts val="0"/>
              </a:spcBef>
              <a:spcAft>
                <a:spcPts val="0"/>
              </a:spcAft>
              <a:buClr>
                <a:srgbClr val="1F1F1F"/>
              </a:buClr>
              <a:buSzPts val="1238"/>
              <a:buFont typeface="Tinos"/>
              <a:buNone/>
            </a:pPr>
            <a:r>
              <a:rPr b="1" i="0" lang="en-US" sz="1238" u="none" cap="none" strike="noStrike">
                <a:solidFill>
                  <a:srgbClr val="1F1F1F"/>
                </a:solidFill>
                <a:latin typeface="Tinos"/>
                <a:ea typeface="Tinos"/>
                <a:cs typeface="Tinos"/>
                <a:sym typeface="Tinos"/>
              </a:rPr>
              <a:t>Creative-director judgement</a:t>
            </a:r>
            <a:endParaRPr b="0" i="0" sz="1238" u="none" cap="none" strike="noStrike">
              <a:solidFill>
                <a:schemeClr val="dk1"/>
              </a:solidFill>
              <a:latin typeface="Calibri"/>
              <a:ea typeface="Calibri"/>
              <a:cs typeface="Calibri"/>
              <a:sym typeface="Calibri"/>
            </a:endParaRPr>
          </a:p>
        </p:txBody>
      </p:sp>
      <p:sp>
        <p:nvSpPr>
          <p:cNvPr id="190" name="Google Shape;190;p7"/>
          <p:cNvSpPr/>
          <p:nvPr/>
        </p:nvSpPr>
        <p:spPr>
          <a:xfrm>
            <a:off x="685800" y="3935760"/>
            <a:ext cx="3650456" cy="650528"/>
          </a:xfrm>
          <a:prstGeom prst="rect">
            <a:avLst/>
          </a:prstGeom>
          <a:noFill/>
          <a:ln>
            <a:noFill/>
          </a:ln>
        </p:spPr>
        <p:txBody>
          <a:bodyPr anchorCtr="0" anchor="t" bIns="0" lIns="0" spcFirstLastPara="1" rIns="0" wrap="square" tIns="0">
            <a:noAutofit/>
          </a:bodyPr>
          <a:lstStyle/>
          <a:p>
            <a:pPr indent="0" lvl="0" marL="0" marR="0" rtl="0" algn="l">
              <a:lnSpc>
                <a:spcPct val="136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Marketing teams at jewellery stores are excellent at merchandising, not at specifying lighting, composition, mood, and cultural targeting. The system must encode creative-director judgement in software — brand voice, size discipline, occasion theming, North-Indian domestic localisation.</a:t>
            </a:r>
            <a:endParaRPr b="0" i="0" sz="800" u="none" cap="none" strike="noStrike">
              <a:solidFill>
                <a:schemeClr val="dk1"/>
              </a:solidFill>
              <a:latin typeface="Calibri"/>
              <a:ea typeface="Calibri"/>
              <a:cs typeface="Calibri"/>
              <a:sym typeface="Calibri"/>
            </a:endParaRPr>
          </a:p>
        </p:txBody>
      </p:sp>
      <p:sp>
        <p:nvSpPr>
          <p:cNvPr id="191" name="Google Shape;191;p7"/>
          <p:cNvSpPr/>
          <p:nvPr/>
        </p:nvSpPr>
        <p:spPr>
          <a:xfrm>
            <a:off x="4636294" y="3397858"/>
            <a:ext cx="3993356" cy="1345592"/>
          </a:xfrm>
          <a:prstGeom prst="rect">
            <a:avLst/>
          </a:prstGeom>
          <a:solidFill>
            <a:srgbClr val="F1EEE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92" name="Google Shape;192;p7"/>
          <p:cNvCxnSpPr/>
          <p:nvPr/>
        </p:nvCxnSpPr>
        <p:spPr>
          <a:xfrm>
            <a:off x="4636294" y="3408573"/>
            <a:ext cx="3993356" cy="0"/>
          </a:xfrm>
          <a:prstGeom prst="straightConnector1">
            <a:avLst/>
          </a:prstGeom>
          <a:noFill/>
          <a:ln cap="flat" cmpd="sng" w="21425">
            <a:solidFill>
              <a:srgbClr val="1E4D4A"/>
            </a:solidFill>
            <a:prstDash val="solid"/>
            <a:round/>
            <a:headEnd len="sm" w="sm" type="none"/>
            <a:tailEnd len="sm" w="sm" type="none"/>
          </a:ln>
        </p:spPr>
      </p:cxnSp>
      <p:sp>
        <p:nvSpPr>
          <p:cNvPr id="193" name="Google Shape;193;p7"/>
          <p:cNvSpPr/>
          <p:nvPr/>
        </p:nvSpPr>
        <p:spPr>
          <a:xfrm>
            <a:off x="4807744" y="3576451"/>
            <a:ext cx="3650456" cy="940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PROBLEM 04</a:t>
            </a:r>
            <a:endParaRPr b="0" i="0" sz="800" u="none" cap="none" strike="noStrike">
              <a:solidFill>
                <a:schemeClr val="dk1"/>
              </a:solidFill>
              <a:latin typeface="Calibri"/>
              <a:ea typeface="Calibri"/>
              <a:cs typeface="Calibri"/>
              <a:sym typeface="Calibri"/>
            </a:endParaRPr>
          </a:p>
        </p:txBody>
      </p:sp>
      <p:sp>
        <p:nvSpPr>
          <p:cNvPr id="194" name="Google Shape;194;p7"/>
          <p:cNvSpPr/>
          <p:nvPr/>
        </p:nvSpPr>
        <p:spPr>
          <a:xfrm>
            <a:off x="4807744" y="3697895"/>
            <a:ext cx="3760184" cy="195172"/>
          </a:xfrm>
          <a:prstGeom prst="rect">
            <a:avLst/>
          </a:prstGeom>
          <a:noFill/>
          <a:ln>
            <a:noFill/>
          </a:ln>
        </p:spPr>
        <p:txBody>
          <a:bodyPr anchorCtr="0" anchor="t" bIns="0" lIns="0" spcFirstLastPara="1" rIns="0" wrap="square" tIns="0">
            <a:noAutofit/>
          </a:bodyPr>
          <a:lstStyle/>
          <a:p>
            <a:pPr indent="0" lvl="0" marL="0" marR="0" rtl="0" algn="l">
              <a:lnSpc>
                <a:spcPct val="114943"/>
              </a:lnSpc>
              <a:spcBef>
                <a:spcPts val="0"/>
              </a:spcBef>
              <a:spcAft>
                <a:spcPts val="0"/>
              </a:spcAft>
              <a:buClr>
                <a:srgbClr val="1F1F1F"/>
              </a:buClr>
              <a:buSzPts val="1238"/>
              <a:buFont typeface="Tinos"/>
              <a:buNone/>
            </a:pPr>
            <a:r>
              <a:rPr b="1" i="0" lang="en-US" sz="1238" u="none" cap="none" strike="noStrike">
                <a:solidFill>
                  <a:srgbClr val="1F1F1F"/>
                </a:solidFill>
                <a:latin typeface="Tinos"/>
                <a:ea typeface="Tinos"/>
                <a:cs typeface="Tinos"/>
                <a:sym typeface="Tinos"/>
              </a:rPr>
              <a:t>Multi-provider orchestration</a:t>
            </a:r>
            <a:endParaRPr b="0" i="0" sz="1238" u="none" cap="none" strike="noStrike">
              <a:solidFill>
                <a:schemeClr val="dk1"/>
              </a:solidFill>
              <a:latin typeface="Calibri"/>
              <a:ea typeface="Calibri"/>
              <a:cs typeface="Calibri"/>
              <a:sym typeface="Calibri"/>
            </a:endParaRPr>
          </a:p>
        </p:txBody>
      </p:sp>
      <p:sp>
        <p:nvSpPr>
          <p:cNvPr id="195" name="Google Shape;195;p7"/>
          <p:cNvSpPr/>
          <p:nvPr/>
        </p:nvSpPr>
        <p:spPr>
          <a:xfrm>
            <a:off x="4807744" y="3935760"/>
            <a:ext cx="3650456" cy="510235"/>
          </a:xfrm>
          <a:prstGeom prst="rect">
            <a:avLst/>
          </a:prstGeom>
          <a:noFill/>
          <a:ln>
            <a:noFill/>
          </a:ln>
        </p:spPr>
        <p:txBody>
          <a:bodyPr anchorCtr="0" anchor="t" bIns="0" lIns="0" spcFirstLastPara="1" rIns="0" wrap="square" tIns="0">
            <a:noAutofit/>
          </a:bodyPr>
          <a:lstStyle/>
          <a:p>
            <a:pPr indent="0" lvl="0" marL="0" marR="0" rtl="0" algn="l">
              <a:lnSpc>
                <a:spcPct val="136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No single image/video model is right for every need. OpenAI wins on identity, Grok on style, Gemini on size, Veo on video. The system must orchestrate these behind one interface with provider-specific prompt engineering and continuity across scenes.</a:t>
            </a:r>
            <a:endParaRPr b="0" i="0" sz="800" u="none" cap="none" strike="noStrike">
              <a:solidFill>
                <a:schemeClr val="dk1"/>
              </a:solidFill>
              <a:latin typeface="Calibri"/>
              <a:ea typeface="Calibri"/>
              <a:cs typeface="Calibri"/>
              <a:sym typeface="Calibri"/>
            </a:endParaRPr>
          </a:p>
        </p:txBody>
      </p:sp>
      <p:cxnSp>
        <p:nvCxnSpPr>
          <p:cNvPr id="196" name="Google Shape;196;p7"/>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197" name="Google Shape;197;p7"/>
          <p:cNvSpPr/>
          <p:nvPr/>
        </p:nvSpPr>
        <p:spPr>
          <a:xfrm>
            <a:off x="514350" y="4893469"/>
            <a:ext cx="6104669"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PROBLEM DECOMPOSITION</a:t>
            </a:r>
            <a:r>
              <a:rPr b="0" i="0" lang="en-US" sz="800" u="none" cap="none" strike="noStrike">
                <a:solidFill>
                  <a:srgbClr val="8A8A8A"/>
                </a:solidFill>
                <a:latin typeface="Carlito"/>
                <a:ea typeface="Carlito"/>
                <a:cs typeface="Carlito"/>
                <a:sym typeface="Carlito"/>
              </a:rPr>
              <a:t> · THE FOUR SUB-PROBLEMS DROVE THE ARCHITECTURE</a:t>
            </a:r>
            <a:endParaRPr b="0" i="0" sz="800" u="none" cap="none" strike="noStrike">
              <a:solidFill>
                <a:schemeClr val="dk1"/>
              </a:solidFill>
              <a:latin typeface="Calibri"/>
              <a:ea typeface="Calibri"/>
              <a:cs typeface="Calibri"/>
              <a:sym typeface="Calibri"/>
            </a:endParaRPr>
          </a:p>
        </p:txBody>
      </p:sp>
      <p:sp>
        <p:nvSpPr>
          <p:cNvPr id="198" name="Google Shape;198;p7"/>
          <p:cNvSpPr/>
          <p:nvPr/>
        </p:nvSpPr>
        <p:spPr>
          <a:xfrm>
            <a:off x="6633307" y="4893469"/>
            <a:ext cx="2106071"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rPr b="0" i="0" lang="en-US" sz="600" u="none" cap="none" strike="noStrike">
                <a:solidFill>
                  <a:srgbClr val="8A8A8A"/>
                </a:solidFill>
                <a:latin typeface="Carlito"/>
                <a:ea typeface="Carlito"/>
                <a:cs typeface="Carlito"/>
                <a:sym typeface="Carlito"/>
              </a:rPr>
              <a:t>ADDRESSED IN SECTION 4.3 OF THE REPORT</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03" name="Shape 203"/>
        <p:cNvGrpSpPr/>
        <p:nvPr/>
      </p:nvGrpSpPr>
      <p:grpSpPr>
        <a:xfrm>
          <a:off x="0" y="0"/>
          <a:ext cx="0" cy="0"/>
          <a:chOff x="0" y="0"/>
          <a:chExt cx="0" cy="0"/>
        </a:xfrm>
      </p:grpSpPr>
      <p:cxnSp>
        <p:nvCxnSpPr>
          <p:cNvPr id="204" name="Google Shape;204;p8"/>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205" name="Google Shape;205;p8"/>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206" name="Google Shape;206;p8"/>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06 / 12</a:t>
            </a:r>
            <a:endParaRPr b="0" i="0" sz="800" u="none" cap="none" strike="noStrike">
              <a:solidFill>
                <a:schemeClr val="dk1"/>
              </a:solidFill>
              <a:latin typeface="Calibri"/>
              <a:ea typeface="Calibri"/>
              <a:cs typeface="Calibri"/>
              <a:sym typeface="Calibri"/>
            </a:endParaRPr>
          </a:p>
        </p:txBody>
      </p:sp>
      <p:sp>
        <p:nvSpPr>
          <p:cNvPr id="207" name="Google Shape;207;p8"/>
          <p:cNvSpPr/>
          <p:nvPr/>
        </p:nvSpPr>
        <p:spPr>
          <a:xfrm>
            <a:off x="514350" y="700950"/>
            <a:ext cx="8629800" cy="11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HOW IT IS BUILT</a:t>
            </a:r>
            <a:endParaRPr b="0" i="0" sz="800" u="none" cap="none" strike="noStrike">
              <a:solidFill>
                <a:schemeClr val="dk1"/>
              </a:solidFill>
              <a:latin typeface="Calibri"/>
              <a:ea typeface="Calibri"/>
              <a:cs typeface="Calibri"/>
              <a:sym typeface="Calibri"/>
            </a:endParaRPr>
          </a:p>
        </p:txBody>
      </p:sp>
      <p:sp>
        <p:nvSpPr>
          <p:cNvPr id="208" name="Google Shape;208;p8"/>
          <p:cNvSpPr/>
          <p:nvPr/>
        </p:nvSpPr>
        <p:spPr>
          <a:xfrm>
            <a:off x="514350" y="894700"/>
            <a:ext cx="8521200" cy="356400"/>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System architecture</a:t>
            </a:r>
            <a:endParaRPr b="0" i="0" sz="2363" u="none" cap="none" strike="noStrike">
              <a:solidFill>
                <a:schemeClr val="dk1"/>
              </a:solidFill>
              <a:latin typeface="Calibri"/>
              <a:ea typeface="Calibri"/>
              <a:cs typeface="Calibri"/>
              <a:sym typeface="Calibri"/>
            </a:endParaRPr>
          </a:p>
        </p:txBody>
      </p:sp>
      <p:sp>
        <p:nvSpPr>
          <p:cNvPr id="209" name="Google Shape;209;p8"/>
          <p:cNvSpPr/>
          <p:nvPr/>
        </p:nvSpPr>
        <p:spPr>
          <a:xfrm>
            <a:off x="514350" y="1251100"/>
            <a:ext cx="8240400" cy="425100"/>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A layered architecture: a React SPA talks over REST to a FastAPI backend, which orchestrates an agent layer (Claude), a service layer (image + video providers), and a persistence layer of PostgreSQL and pluggable storage.</a:t>
            </a:r>
            <a:endParaRPr b="0" i="0" sz="1069" u="none" cap="none" strike="noStrike">
              <a:solidFill>
                <a:schemeClr val="dk1"/>
              </a:solidFill>
              <a:latin typeface="Calibri"/>
              <a:ea typeface="Calibri"/>
              <a:cs typeface="Calibri"/>
              <a:sym typeface="Calibri"/>
            </a:endParaRPr>
          </a:p>
        </p:txBody>
      </p:sp>
      <p:sp>
        <p:nvSpPr>
          <p:cNvPr id="210" name="Google Shape;210;p8"/>
          <p:cNvSpPr/>
          <p:nvPr/>
        </p:nvSpPr>
        <p:spPr>
          <a:xfrm>
            <a:off x="514350" y="4893469"/>
            <a:ext cx="6949753"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LAYERED ARCHTECTURE</a:t>
            </a:r>
            <a:r>
              <a:rPr b="0" i="0" lang="en-US" sz="800" u="none" cap="none" strike="noStrike">
                <a:solidFill>
                  <a:srgbClr val="8A8A8A"/>
                </a:solidFill>
                <a:latin typeface="Carlito"/>
                <a:ea typeface="Carlito"/>
                <a:cs typeface="Carlito"/>
                <a:sym typeface="Carlito"/>
              </a:rPr>
              <a:t> · SEE SECTION 4.7 OF THE REPORT FOR FULL DESCRIPTION</a:t>
            </a:r>
            <a:endParaRPr b="0" i="0" sz="800" u="none" cap="none" strike="noStrike">
              <a:solidFill>
                <a:schemeClr val="dk1"/>
              </a:solidFill>
              <a:latin typeface="Calibri"/>
              <a:ea typeface="Calibri"/>
              <a:cs typeface="Calibri"/>
              <a:sym typeface="Calibri"/>
            </a:endParaRPr>
          </a:p>
        </p:txBody>
      </p:sp>
      <p:sp>
        <p:nvSpPr>
          <p:cNvPr id="211" name="Google Shape;211;p8"/>
          <p:cNvSpPr/>
          <p:nvPr/>
        </p:nvSpPr>
        <p:spPr>
          <a:xfrm>
            <a:off x="7478390" y="4893469"/>
            <a:ext cx="115126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pic>
        <p:nvPicPr>
          <p:cNvPr id="212" name="Google Shape;212;p8"/>
          <p:cNvPicPr preferRelativeResize="0"/>
          <p:nvPr/>
        </p:nvPicPr>
        <p:blipFill>
          <a:blip r:embed="rId3">
            <a:alphaModFix/>
          </a:blip>
          <a:stretch>
            <a:fillRect/>
          </a:stretch>
        </p:blipFill>
        <p:spPr>
          <a:xfrm>
            <a:off x="514350" y="1650750"/>
            <a:ext cx="8049751" cy="33215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17" name="Shape 217"/>
        <p:cNvGrpSpPr/>
        <p:nvPr/>
      </p:nvGrpSpPr>
      <p:grpSpPr>
        <a:xfrm>
          <a:off x="0" y="0"/>
          <a:ext cx="0" cy="0"/>
          <a:chOff x="0" y="0"/>
          <a:chExt cx="0" cy="0"/>
        </a:xfrm>
      </p:grpSpPr>
      <p:cxnSp>
        <p:nvCxnSpPr>
          <p:cNvPr id="218" name="Google Shape;218;p9"/>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219" name="Google Shape;219;p9"/>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220" name="Google Shape;220;p9"/>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07 / 12</a:t>
            </a:r>
            <a:endParaRPr b="0" i="0" sz="800" u="none" cap="none" strike="noStrike">
              <a:solidFill>
                <a:schemeClr val="dk1"/>
              </a:solidFill>
              <a:latin typeface="Calibri"/>
              <a:ea typeface="Calibri"/>
              <a:cs typeface="Calibri"/>
              <a:sym typeface="Calibri"/>
            </a:endParaRPr>
          </a:p>
        </p:txBody>
      </p:sp>
      <p:sp>
        <p:nvSpPr>
          <p:cNvPr id="221" name="Google Shape;221;p9"/>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MY WORK — AI/ML &amp; GENERATIVE SERVICES</a:t>
            </a:r>
            <a:endParaRPr b="0" i="0" sz="800" u="none" cap="none" strike="noStrike">
              <a:solidFill>
                <a:schemeClr val="dk1"/>
              </a:solidFill>
              <a:latin typeface="Calibri"/>
              <a:ea typeface="Calibri"/>
              <a:cs typeface="Calibri"/>
              <a:sym typeface="Calibri"/>
            </a:endParaRPr>
          </a:p>
        </p:txBody>
      </p:sp>
      <p:sp>
        <p:nvSpPr>
          <p:cNvPr id="222" name="Google Shape;222;p9"/>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What I personally contributed</a:t>
            </a:r>
            <a:endParaRPr b="0" i="0" sz="2363" u="none" cap="none" strike="noStrike">
              <a:solidFill>
                <a:schemeClr val="dk1"/>
              </a:solidFill>
              <a:latin typeface="Calibri"/>
              <a:ea typeface="Calibri"/>
              <a:cs typeface="Calibri"/>
              <a:sym typeface="Calibri"/>
            </a:endParaRPr>
          </a:p>
        </p:txBody>
      </p:sp>
      <p:sp>
        <p:nvSpPr>
          <p:cNvPr id="223" name="Google Shape;223;p9"/>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The frontend and the gated pipeline were owned by other members of the team. My contributions were concentrated in the AI integration, prompt engineering, and image/video generation services of the Creative Generation module.</a:t>
            </a:r>
            <a:endParaRPr b="0" i="0" sz="1069" u="none" cap="none" strike="noStrike">
              <a:solidFill>
                <a:schemeClr val="dk1"/>
              </a:solidFill>
              <a:latin typeface="Calibri"/>
              <a:ea typeface="Calibri"/>
              <a:cs typeface="Calibri"/>
              <a:sym typeface="Calibri"/>
            </a:endParaRPr>
          </a:p>
        </p:txBody>
      </p:sp>
      <p:cxnSp>
        <p:nvCxnSpPr>
          <p:cNvPr id="224" name="Google Shape;224;p9"/>
          <p:cNvCxnSpPr/>
          <p:nvPr/>
        </p:nvCxnSpPr>
        <p:spPr>
          <a:xfrm>
            <a:off x="514350" y="2665958"/>
            <a:ext cx="3957638" cy="0"/>
          </a:xfrm>
          <a:prstGeom prst="straightConnector1">
            <a:avLst/>
          </a:prstGeom>
          <a:noFill/>
          <a:ln cap="flat" cmpd="sng" w="9525">
            <a:solidFill>
              <a:srgbClr val="F1EEE6"/>
            </a:solidFill>
            <a:prstDash val="solid"/>
            <a:round/>
            <a:headEnd len="sm" w="sm" type="none"/>
            <a:tailEnd len="sm" w="sm" type="none"/>
          </a:ln>
        </p:spPr>
      </p:cxnSp>
      <p:sp>
        <p:nvSpPr>
          <p:cNvPr id="225" name="Google Shape;225;p9"/>
          <p:cNvSpPr/>
          <p:nvPr/>
        </p:nvSpPr>
        <p:spPr>
          <a:xfrm>
            <a:off x="514350" y="206655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6" name="Google Shape;226;p9"/>
          <p:cNvSpPr/>
          <p:nvPr/>
        </p:nvSpPr>
        <p:spPr>
          <a:xfrm>
            <a:off x="514350" y="206655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01</a:t>
            </a:r>
            <a:endParaRPr b="0" i="0" sz="800" u="none" cap="none" strike="noStrike">
              <a:solidFill>
                <a:schemeClr val="dk1"/>
              </a:solidFill>
              <a:latin typeface="Calibri"/>
              <a:ea typeface="Calibri"/>
              <a:cs typeface="Calibri"/>
              <a:sym typeface="Calibri"/>
            </a:endParaRPr>
          </a:p>
        </p:txBody>
      </p:sp>
      <p:sp>
        <p:nvSpPr>
          <p:cNvPr id="227" name="Google Shape;227;p9"/>
          <p:cNvSpPr/>
          <p:nvPr/>
        </p:nvSpPr>
        <p:spPr>
          <a:xfrm>
            <a:off x="842963" y="2066553"/>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Layered prompt builder</a:t>
            </a:r>
            <a:endParaRPr b="0" i="0" sz="816" u="none" cap="none" strike="noStrike">
              <a:solidFill>
                <a:schemeClr val="dk1"/>
              </a:solidFill>
              <a:latin typeface="Calibri"/>
              <a:ea typeface="Calibri"/>
              <a:cs typeface="Calibri"/>
              <a:sym typeface="Calibri"/>
            </a:endParaRPr>
          </a:p>
        </p:txBody>
      </p:sp>
      <p:sp>
        <p:nvSpPr>
          <p:cNvPr id="228" name="Google Shape;228;p9"/>
          <p:cNvSpPr/>
          <p:nvPr/>
        </p:nvSpPr>
        <p:spPr>
          <a:xfrm>
            <a:off x="842963" y="2219362"/>
            <a:ext cx="3629025" cy="3572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Authored </a:t>
            </a:r>
            <a:r>
              <a:rPr b="0" i="0" lang="en-US" sz="800" u="none" cap="none" strike="noStrike">
                <a:solidFill>
                  <a:srgbClr val="1E4D4A"/>
                </a:solidFill>
                <a:latin typeface="Courier New"/>
                <a:ea typeface="Courier New"/>
                <a:cs typeface="Courier New"/>
                <a:sym typeface="Courier New"/>
              </a:rPr>
              <a:t>build_reel_scene_prompt</a:t>
            </a:r>
            <a:r>
              <a:rPr b="0" i="0" lang="en-US" sz="800" u="none" cap="none" strike="noStrike">
                <a:solidFill>
                  <a:srgbClr val="4A4A4A"/>
                </a:solidFill>
                <a:latin typeface="Carlito"/>
                <a:ea typeface="Carlito"/>
                <a:cs typeface="Carlito"/>
                <a:sym typeface="Carlito"/>
              </a:rPr>
              <a:t> — 11 priority-ordered layers (mandatory scene → outfit lock → jewellery identity → size anchor → continuity → style → person → occasion → negatives → edit-lock).</a:t>
            </a:r>
            <a:endParaRPr b="0" i="0" sz="800" u="none" cap="none" strike="noStrike">
              <a:solidFill>
                <a:schemeClr val="dk1"/>
              </a:solidFill>
              <a:latin typeface="Calibri"/>
              <a:ea typeface="Calibri"/>
              <a:cs typeface="Calibri"/>
              <a:sym typeface="Calibri"/>
            </a:endParaRPr>
          </a:p>
        </p:txBody>
      </p:sp>
      <p:cxnSp>
        <p:nvCxnSpPr>
          <p:cNvPr id="229" name="Google Shape;229;p9"/>
          <p:cNvCxnSpPr/>
          <p:nvPr/>
        </p:nvCxnSpPr>
        <p:spPr>
          <a:xfrm>
            <a:off x="4672013" y="2665958"/>
            <a:ext cx="3957638" cy="0"/>
          </a:xfrm>
          <a:prstGeom prst="straightConnector1">
            <a:avLst/>
          </a:prstGeom>
          <a:noFill/>
          <a:ln cap="flat" cmpd="sng" w="9525">
            <a:solidFill>
              <a:srgbClr val="F1EEE6"/>
            </a:solidFill>
            <a:prstDash val="solid"/>
            <a:round/>
            <a:headEnd len="sm" w="sm" type="none"/>
            <a:tailEnd len="sm" w="sm" type="none"/>
          </a:ln>
        </p:spPr>
      </p:cxnSp>
      <p:sp>
        <p:nvSpPr>
          <p:cNvPr id="230" name="Google Shape;230;p9"/>
          <p:cNvSpPr/>
          <p:nvPr/>
        </p:nvSpPr>
        <p:spPr>
          <a:xfrm>
            <a:off x="4672013" y="206655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1" name="Google Shape;231;p9"/>
          <p:cNvSpPr/>
          <p:nvPr/>
        </p:nvSpPr>
        <p:spPr>
          <a:xfrm>
            <a:off x="4672013" y="206655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02</a:t>
            </a:r>
            <a:endParaRPr b="0" i="0" sz="800" u="none" cap="none" strike="noStrike">
              <a:solidFill>
                <a:schemeClr val="dk1"/>
              </a:solidFill>
              <a:latin typeface="Calibri"/>
              <a:ea typeface="Calibri"/>
              <a:cs typeface="Calibri"/>
              <a:sym typeface="Calibri"/>
            </a:endParaRPr>
          </a:p>
        </p:txBody>
      </p:sp>
      <p:sp>
        <p:nvSpPr>
          <p:cNvPr id="232" name="Google Shape;232;p9"/>
          <p:cNvSpPr/>
          <p:nvPr/>
        </p:nvSpPr>
        <p:spPr>
          <a:xfrm>
            <a:off x="5000625" y="2066553"/>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Claude Vision pipeline</a:t>
            </a:r>
            <a:endParaRPr b="0" i="0" sz="816" u="none" cap="none" strike="noStrike">
              <a:solidFill>
                <a:schemeClr val="dk1"/>
              </a:solidFill>
              <a:latin typeface="Calibri"/>
              <a:ea typeface="Calibri"/>
              <a:cs typeface="Calibri"/>
              <a:sym typeface="Calibri"/>
            </a:endParaRPr>
          </a:p>
        </p:txBody>
      </p:sp>
      <p:sp>
        <p:nvSpPr>
          <p:cNvPr id="233" name="Google Shape;233;p9"/>
          <p:cNvSpPr/>
          <p:nvPr/>
        </p:nvSpPr>
        <p:spPr>
          <a:xfrm>
            <a:off x="5000625" y="2219362"/>
            <a:ext cx="3629025" cy="3572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Four vision helpers: jewellery description (set-aware), dimension estimation, occasion-theme authoring (7-point MANDATORY block), and image captioning to replace guessed captions with what is actually rendered.</a:t>
            </a:r>
            <a:endParaRPr b="0" i="0" sz="800" u="none" cap="none" strike="noStrike">
              <a:solidFill>
                <a:schemeClr val="dk1"/>
              </a:solidFill>
              <a:latin typeface="Calibri"/>
              <a:ea typeface="Calibri"/>
              <a:cs typeface="Calibri"/>
              <a:sym typeface="Calibri"/>
            </a:endParaRPr>
          </a:p>
        </p:txBody>
      </p:sp>
      <p:cxnSp>
        <p:nvCxnSpPr>
          <p:cNvPr id="234" name="Google Shape;234;p9"/>
          <p:cNvCxnSpPr/>
          <p:nvPr/>
        </p:nvCxnSpPr>
        <p:spPr>
          <a:xfrm>
            <a:off x="514350" y="3335573"/>
            <a:ext cx="3957638" cy="0"/>
          </a:xfrm>
          <a:prstGeom prst="straightConnector1">
            <a:avLst/>
          </a:prstGeom>
          <a:noFill/>
          <a:ln cap="flat" cmpd="sng" w="9525">
            <a:solidFill>
              <a:srgbClr val="F1EEE6"/>
            </a:solidFill>
            <a:prstDash val="solid"/>
            <a:round/>
            <a:headEnd len="sm" w="sm" type="none"/>
            <a:tailEnd len="sm" w="sm" type="none"/>
          </a:ln>
        </p:spPr>
      </p:cxnSp>
      <p:sp>
        <p:nvSpPr>
          <p:cNvPr id="235" name="Google Shape;235;p9"/>
          <p:cNvSpPr/>
          <p:nvPr/>
        </p:nvSpPr>
        <p:spPr>
          <a:xfrm>
            <a:off x="514350" y="2855268"/>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6" name="Google Shape;236;p9"/>
          <p:cNvSpPr/>
          <p:nvPr/>
        </p:nvSpPr>
        <p:spPr>
          <a:xfrm>
            <a:off x="514350" y="2855268"/>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03</a:t>
            </a:r>
            <a:endParaRPr b="0" i="0" sz="800" u="none" cap="none" strike="noStrike">
              <a:solidFill>
                <a:schemeClr val="dk1"/>
              </a:solidFill>
              <a:latin typeface="Calibri"/>
              <a:ea typeface="Calibri"/>
              <a:cs typeface="Calibri"/>
              <a:sym typeface="Calibri"/>
            </a:endParaRPr>
          </a:p>
        </p:txBody>
      </p:sp>
      <p:sp>
        <p:nvSpPr>
          <p:cNvPr id="237" name="Google Shape;237;p9"/>
          <p:cNvSpPr/>
          <p:nvPr/>
        </p:nvSpPr>
        <p:spPr>
          <a:xfrm>
            <a:off x="842963" y="2855268"/>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OpenAI two-pass identity</a:t>
            </a:r>
            <a:endParaRPr b="0" i="0" sz="816" u="none" cap="none" strike="noStrike">
              <a:solidFill>
                <a:schemeClr val="dk1"/>
              </a:solidFill>
              <a:latin typeface="Calibri"/>
              <a:ea typeface="Calibri"/>
              <a:cs typeface="Calibri"/>
              <a:sym typeface="Calibri"/>
            </a:endParaRPr>
          </a:p>
        </p:txBody>
      </p:sp>
      <p:sp>
        <p:nvSpPr>
          <p:cNvPr id="238" name="Google Shape;238;p9"/>
          <p:cNvSpPr/>
          <p:nvPr/>
        </p:nvSpPr>
        <p:spPr>
          <a:xfrm>
            <a:off x="842963" y="3008077"/>
            <a:ext cx="3629025" cy="2381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For worn jewellery with no base scene: Pass 1 renders the model with no jewellery, Pass 2 edits the exact piece on with </a:t>
            </a:r>
            <a:r>
              <a:rPr b="0" i="0" lang="en-US" sz="800" u="none" cap="none" strike="noStrike">
                <a:solidFill>
                  <a:srgbClr val="1E4D4A"/>
                </a:solidFill>
                <a:latin typeface="Courier New"/>
                <a:ea typeface="Courier New"/>
                <a:cs typeface="Courier New"/>
                <a:sym typeface="Courier New"/>
              </a:rPr>
              <a:t>input_fidelity="high"</a:t>
            </a:r>
            <a:r>
              <a:rPr b="0" i="0" lang="en-US" sz="800" u="none" cap="none" strike="noStrike">
                <a:solidFill>
                  <a:srgbClr val="4A4A4A"/>
                </a:solidFill>
                <a:latin typeface="Carlito"/>
                <a:ea typeface="Carlito"/>
                <a:cs typeface="Carlito"/>
                <a:sym typeface="Carlito"/>
              </a:rPr>
              <a:t> and jewellery image passed first.</a:t>
            </a:r>
            <a:endParaRPr b="0" i="0" sz="800" u="none" cap="none" strike="noStrike">
              <a:solidFill>
                <a:schemeClr val="dk1"/>
              </a:solidFill>
              <a:latin typeface="Calibri"/>
              <a:ea typeface="Calibri"/>
              <a:cs typeface="Calibri"/>
              <a:sym typeface="Calibri"/>
            </a:endParaRPr>
          </a:p>
        </p:txBody>
      </p:sp>
      <p:cxnSp>
        <p:nvCxnSpPr>
          <p:cNvPr id="239" name="Google Shape;239;p9"/>
          <p:cNvCxnSpPr/>
          <p:nvPr/>
        </p:nvCxnSpPr>
        <p:spPr>
          <a:xfrm>
            <a:off x="4672013" y="3335573"/>
            <a:ext cx="3957638" cy="0"/>
          </a:xfrm>
          <a:prstGeom prst="straightConnector1">
            <a:avLst/>
          </a:prstGeom>
          <a:noFill/>
          <a:ln cap="flat" cmpd="sng" w="9525">
            <a:solidFill>
              <a:srgbClr val="F1EEE6"/>
            </a:solidFill>
            <a:prstDash val="solid"/>
            <a:round/>
            <a:headEnd len="sm" w="sm" type="none"/>
            <a:tailEnd len="sm" w="sm" type="none"/>
          </a:ln>
        </p:spPr>
      </p:cxnSp>
      <p:sp>
        <p:nvSpPr>
          <p:cNvPr id="240" name="Google Shape;240;p9"/>
          <p:cNvSpPr/>
          <p:nvPr/>
        </p:nvSpPr>
        <p:spPr>
          <a:xfrm>
            <a:off x="4672013" y="2855268"/>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1" name="Google Shape;241;p9"/>
          <p:cNvSpPr/>
          <p:nvPr/>
        </p:nvSpPr>
        <p:spPr>
          <a:xfrm>
            <a:off x="4672013" y="2855268"/>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04</a:t>
            </a:r>
            <a:endParaRPr b="0" i="0" sz="800" u="none" cap="none" strike="noStrike">
              <a:solidFill>
                <a:schemeClr val="dk1"/>
              </a:solidFill>
              <a:latin typeface="Calibri"/>
              <a:ea typeface="Calibri"/>
              <a:cs typeface="Calibri"/>
              <a:sym typeface="Calibri"/>
            </a:endParaRPr>
          </a:p>
        </p:txBody>
      </p:sp>
      <p:sp>
        <p:nvSpPr>
          <p:cNvPr id="242" name="Google Shape;242;p9"/>
          <p:cNvSpPr/>
          <p:nvPr/>
        </p:nvSpPr>
        <p:spPr>
          <a:xfrm>
            <a:off x="5000625" y="2855268"/>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Multi-provider dispatch</a:t>
            </a:r>
            <a:endParaRPr b="0" i="0" sz="816" u="none" cap="none" strike="noStrike">
              <a:solidFill>
                <a:schemeClr val="dk1"/>
              </a:solidFill>
              <a:latin typeface="Calibri"/>
              <a:ea typeface="Calibri"/>
              <a:cs typeface="Calibri"/>
              <a:sym typeface="Calibri"/>
            </a:endParaRPr>
          </a:p>
        </p:txBody>
      </p:sp>
      <p:sp>
        <p:nvSpPr>
          <p:cNvPr id="243" name="Google Shape;243;p9"/>
          <p:cNvSpPr/>
          <p:nvPr/>
        </p:nvSpPr>
        <p:spPr>
          <a:xfrm>
            <a:off x="5000625" y="3008077"/>
            <a:ext cx="3629025" cy="2381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Unified interface for OpenAI, Grok, Gemini Flash, Imagen 4 — each with provider-specific identity preservation (reference editing, system-instruction size calibration, text-to-image with negatives).</a:t>
            </a:r>
            <a:endParaRPr b="0" i="0" sz="800" u="none" cap="none" strike="noStrike">
              <a:solidFill>
                <a:schemeClr val="dk1"/>
              </a:solidFill>
              <a:latin typeface="Calibri"/>
              <a:ea typeface="Calibri"/>
              <a:cs typeface="Calibri"/>
              <a:sym typeface="Calibri"/>
            </a:endParaRPr>
          </a:p>
        </p:txBody>
      </p:sp>
      <p:cxnSp>
        <p:nvCxnSpPr>
          <p:cNvPr id="244" name="Google Shape;244;p9"/>
          <p:cNvCxnSpPr/>
          <p:nvPr/>
        </p:nvCxnSpPr>
        <p:spPr>
          <a:xfrm>
            <a:off x="514350" y="4124288"/>
            <a:ext cx="3957638" cy="0"/>
          </a:xfrm>
          <a:prstGeom prst="straightConnector1">
            <a:avLst/>
          </a:prstGeom>
          <a:noFill/>
          <a:ln cap="flat" cmpd="sng" w="9525">
            <a:solidFill>
              <a:srgbClr val="F1EEE6"/>
            </a:solidFill>
            <a:prstDash val="solid"/>
            <a:round/>
            <a:headEnd len="sm" w="sm" type="none"/>
            <a:tailEnd len="sm" w="sm" type="none"/>
          </a:ln>
        </p:spPr>
      </p:cxnSp>
      <p:sp>
        <p:nvSpPr>
          <p:cNvPr id="245" name="Google Shape;245;p9"/>
          <p:cNvSpPr/>
          <p:nvPr/>
        </p:nvSpPr>
        <p:spPr>
          <a:xfrm>
            <a:off x="514350" y="352488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6" name="Google Shape;246;p9"/>
          <p:cNvSpPr/>
          <p:nvPr/>
        </p:nvSpPr>
        <p:spPr>
          <a:xfrm>
            <a:off x="514350" y="352488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05</a:t>
            </a:r>
            <a:endParaRPr b="0" i="0" sz="800" u="none" cap="none" strike="noStrike">
              <a:solidFill>
                <a:schemeClr val="dk1"/>
              </a:solidFill>
              <a:latin typeface="Calibri"/>
              <a:ea typeface="Calibri"/>
              <a:cs typeface="Calibri"/>
              <a:sym typeface="Calibri"/>
            </a:endParaRPr>
          </a:p>
        </p:txBody>
      </p:sp>
      <p:sp>
        <p:nvSpPr>
          <p:cNvPr id="247" name="Google Shape;247;p9"/>
          <p:cNvSpPr/>
          <p:nvPr/>
        </p:nvSpPr>
        <p:spPr>
          <a:xfrm>
            <a:off x="842963" y="3524883"/>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Grok reel video pipeline</a:t>
            </a:r>
            <a:endParaRPr b="0" i="0" sz="816" u="none" cap="none" strike="noStrike">
              <a:solidFill>
                <a:schemeClr val="dk1"/>
              </a:solidFill>
              <a:latin typeface="Calibri"/>
              <a:ea typeface="Calibri"/>
              <a:cs typeface="Calibri"/>
              <a:sym typeface="Calibri"/>
            </a:endParaRPr>
          </a:p>
        </p:txBody>
      </p:sp>
      <p:sp>
        <p:nvSpPr>
          <p:cNvPr id="248" name="Google Shape;248;p9"/>
          <p:cNvSpPr/>
          <p:nvPr/>
        </p:nvSpPr>
        <p:spPr>
          <a:xfrm>
            <a:off x="842963" y="3677692"/>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Character anchor via Claude Vision → 3×5s clips generated sequentially → </a:t>
            </a:r>
            <a:r>
              <a:rPr b="0" i="0" lang="en-US" sz="800" u="none" cap="none" strike="noStrike">
                <a:solidFill>
                  <a:srgbClr val="1E4D4A"/>
                </a:solidFill>
                <a:latin typeface="Courier New"/>
                <a:ea typeface="Courier New"/>
                <a:cs typeface="Courier New"/>
                <a:sym typeface="Courier New"/>
              </a:rPr>
              <a:t>ffmpeg -c copy</a:t>
            </a:r>
            <a:r>
              <a:rPr b="0" i="0" lang="en-US" sz="800" u="none" cap="none" strike="noStrike">
                <a:solidFill>
                  <a:srgbClr val="4A4A4A"/>
                </a:solidFill>
                <a:latin typeface="Carlito"/>
                <a:ea typeface="Carlito"/>
                <a:cs typeface="Carlito"/>
                <a:sym typeface="Carlito"/>
              </a:rPr>
              <a:t> stitch → upload. Progress reported via nested status objects.</a:t>
            </a:r>
            <a:endParaRPr b="0" i="0" sz="800" u="none" cap="none" strike="noStrike">
              <a:solidFill>
                <a:schemeClr val="dk1"/>
              </a:solidFill>
              <a:latin typeface="Calibri"/>
              <a:ea typeface="Calibri"/>
              <a:cs typeface="Calibri"/>
              <a:sym typeface="Calibri"/>
            </a:endParaRPr>
          </a:p>
        </p:txBody>
      </p:sp>
      <p:cxnSp>
        <p:nvCxnSpPr>
          <p:cNvPr id="249" name="Google Shape;249;p9"/>
          <p:cNvCxnSpPr/>
          <p:nvPr/>
        </p:nvCxnSpPr>
        <p:spPr>
          <a:xfrm>
            <a:off x="4672013" y="4124288"/>
            <a:ext cx="3957638" cy="0"/>
          </a:xfrm>
          <a:prstGeom prst="straightConnector1">
            <a:avLst/>
          </a:prstGeom>
          <a:noFill/>
          <a:ln cap="flat" cmpd="sng" w="9525">
            <a:solidFill>
              <a:srgbClr val="F1EEE6"/>
            </a:solidFill>
            <a:prstDash val="solid"/>
            <a:round/>
            <a:headEnd len="sm" w="sm" type="none"/>
            <a:tailEnd len="sm" w="sm" type="none"/>
          </a:ln>
        </p:spPr>
      </p:cxnSp>
      <p:sp>
        <p:nvSpPr>
          <p:cNvPr id="250" name="Google Shape;250;p9"/>
          <p:cNvSpPr/>
          <p:nvPr/>
        </p:nvSpPr>
        <p:spPr>
          <a:xfrm>
            <a:off x="4672013" y="352488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1" name="Google Shape;251;p9"/>
          <p:cNvSpPr/>
          <p:nvPr/>
        </p:nvSpPr>
        <p:spPr>
          <a:xfrm>
            <a:off x="4672013" y="352488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06</a:t>
            </a:r>
            <a:endParaRPr b="0" i="0" sz="800" u="none" cap="none" strike="noStrike">
              <a:solidFill>
                <a:schemeClr val="dk1"/>
              </a:solidFill>
              <a:latin typeface="Calibri"/>
              <a:ea typeface="Calibri"/>
              <a:cs typeface="Calibri"/>
              <a:sym typeface="Calibri"/>
            </a:endParaRPr>
          </a:p>
        </p:txBody>
      </p:sp>
      <p:sp>
        <p:nvSpPr>
          <p:cNvPr id="252" name="Google Shape;252;p9"/>
          <p:cNvSpPr/>
          <p:nvPr/>
        </p:nvSpPr>
        <p:spPr>
          <a:xfrm>
            <a:off x="5000625" y="3524883"/>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Arial"/>
              <a:buNone/>
            </a:pPr>
            <a:r>
              <a:rPr b="0" i="0" lang="en-US" sz="816" u="none" cap="none" strike="noStrike">
                <a:solidFill>
                  <a:srgbClr val="1F1F1F"/>
                </a:solidFill>
                <a:latin typeface="Arial"/>
                <a:ea typeface="Arial"/>
                <a:cs typeface="Arial"/>
                <a:sym typeface="Arial"/>
              </a:rPr>
              <a:t>Veo 3.1 jewellery ad</a:t>
            </a:r>
            <a:endParaRPr b="0" i="0" sz="816" u="none" cap="none" strike="noStrike">
              <a:solidFill>
                <a:schemeClr val="dk1"/>
              </a:solidFill>
              <a:latin typeface="Calibri"/>
              <a:ea typeface="Calibri"/>
              <a:cs typeface="Calibri"/>
              <a:sym typeface="Calibri"/>
            </a:endParaRPr>
          </a:p>
        </p:txBody>
      </p:sp>
      <p:sp>
        <p:nvSpPr>
          <p:cNvPr id="253" name="Google Shape;253;p9"/>
          <p:cNvSpPr/>
          <p:nvPr/>
        </p:nvSpPr>
        <p:spPr>
          <a:xfrm>
            <a:off x="5000625" y="3677692"/>
            <a:ext cx="3629025" cy="3572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Three source modes (photo, photo+script, scene-image) → Claude-authored prompt → fast/quality tier selection → 10-min hard timeout → fresh-session error writeback to avoid poisoned transactions.</a:t>
            </a:r>
            <a:endParaRPr b="0" i="0" sz="800" u="none" cap="none" strike="noStrike">
              <a:solidFill>
                <a:schemeClr val="dk1"/>
              </a:solidFill>
              <a:latin typeface="Calibri"/>
              <a:ea typeface="Calibri"/>
              <a:cs typeface="Calibri"/>
              <a:sym typeface="Calibri"/>
            </a:endParaRPr>
          </a:p>
        </p:txBody>
      </p:sp>
      <p:cxnSp>
        <p:nvCxnSpPr>
          <p:cNvPr id="254" name="Google Shape;254;p9"/>
          <p:cNvCxnSpPr/>
          <p:nvPr/>
        </p:nvCxnSpPr>
        <p:spPr>
          <a:xfrm>
            <a:off x="514350" y="4913002"/>
            <a:ext cx="3957638" cy="0"/>
          </a:xfrm>
          <a:prstGeom prst="straightConnector1">
            <a:avLst/>
          </a:prstGeom>
          <a:noFill/>
          <a:ln cap="flat" cmpd="sng" w="9525">
            <a:solidFill>
              <a:srgbClr val="F1EEE6"/>
            </a:solidFill>
            <a:prstDash val="solid"/>
            <a:round/>
            <a:headEnd len="sm" w="sm" type="none"/>
            <a:tailEnd len="sm" w="sm" type="none"/>
          </a:ln>
        </p:spPr>
      </p:cxnSp>
      <p:sp>
        <p:nvSpPr>
          <p:cNvPr id="255" name="Google Shape;255;p9"/>
          <p:cNvSpPr/>
          <p:nvPr/>
        </p:nvSpPr>
        <p:spPr>
          <a:xfrm>
            <a:off x="514350" y="4313597"/>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6" name="Google Shape;256;p9"/>
          <p:cNvSpPr/>
          <p:nvPr/>
        </p:nvSpPr>
        <p:spPr>
          <a:xfrm>
            <a:off x="514350" y="4313597"/>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07</a:t>
            </a:r>
            <a:endParaRPr b="0" i="0" sz="800" u="none" cap="none" strike="noStrike">
              <a:solidFill>
                <a:schemeClr val="dk1"/>
              </a:solidFill>
              <a:latin typeface="Calibri"/>
              <a:ea typeface="Calibri"/>
              <a:cs typeface="Calibri"/>
              <a:sym typeface="Calibri"/>
            </a:endParaRPr>
          </a:p>
        </p:txBody>
      </p:sp>
      <p:sp>
        <p:nvSpPr>
          <p:cNvPr id="257" name="Google Shape;257;p9"/>
          <p:cNvSpPr/>
          <p:nvPr/>
        </p:nvSpPr>
        <p:spPr>
          <a:xfrm>
            <a:off x="842963" y="4313597"/>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Social export &amp; inset</a:t>
            </a:r>
            <a:endParaRPr b="0" i="0" sz="816" u="none" cap="none" strike="noStrike">
              <a:solidFill>
                <a:schemeClr val="dk1"/>
              </a:solidFill>
              <a:latin typeface="Calibri"/>
              <a:ea typeface="Calibri"/>
              <a:cs typeface="Calibri"/>
              <a:sym typeface="Calibri"/>
            </a:endParaRPr>
          </a:p>
        </p:txBody>
      </p:sp>
      <p:sp>
        <p:nvSpPr>
          <p:cNvPr id="258" name="Google Shape;258;p9"/>
          <p:cNvSpPr/>
          <p:nvPr/>
        </p:nvSpPr>
        <p:spPr>
          <a:xfrm>
            <a:off x="842963" y="4466406"/>
            <a:ext cx="3629025" cy="3572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Resize to 6 social sizes (Grok reframe + PIL fallback), composite product-inset badge that overlays the actual uploaded photo pixel-exact as a corner element. </a:t>
            </a:r>
            <a:r>
              <a:rPr b="0" i="0" lang="en-US" sz="800" u="none" cap="none" strike="noStrike">
                <a:solidFill>
                  <a:srgbClr val="1E4D4A"/>
                </a:solidFill>
                <a:latin typeface="Courier New"/>
                <a:ea typeface="Courier New"/>
                <a:cs typeface="Courier New"/>
                <a:sym typeface="Courier New"/>
              </a:rPr>
              <a:t>InsufficientCreditsError</a:t>
            </a:r>
            <a:r>
              <a:rPr b="0" i="0" lang="en-US" sz="800" u="none" cap="none" strike="noStrike">
                <a:solidFill>
                  <a:srgbClr val="4A4A4A"/>
                </a:solidFill>
                <a:latin typeface="Arial"/>
                <a:ea typeface="Arial"/>
                <a:cs typeface="Arial"/>
                <a:sym typeface="Arial"/>
              </a:rPr>
              <a:t> → HTTP 402.</a:t>
            </a:r>
            <a:endParaRPr b="0" i="0" sz="800" u="none" cap="none" strike="noStrike">
              <a:solidFill>
                <a:schemeClr val="dk1"/>
              </a:solidFill>
              <a:latin typeface="Calibri"/>
              <a:ea typeface="Calibri"/>
              <a:cs typeface="Calibri"/>
              <a:sym typeface="Calibri"/>
            </a:endParaRPr>
          </a:p>
        </p:txBody>
      </p:sp>
      <p:cxnSp>
        <p:nvCxnSpPr>
          <p:cNvPr id="259" name="Google Shape;259;p9"/>
          <p:cNvCxnSpPr/>
          <p:nvPr/>
        </p:nvCxnSpPr>
        <p:spPr>
          <a:xfrm>
            <a:off x="4672013" y="4913002"/>
            <a:ext cx="3957638" cy="0"/>
          </a:xfrm>
          <a:prstGeom prst="straightConnector1">
            <a:avLst/>
          </a:prstGeom>
          <a:noFill/>
          <a:ln cap="flat" cmpd="sng" w="9525">
            <a:solidFill>
              <a:srgbClr val="F1EEE6"/>
            </a:solidFill>
            <a:prstDash val="solid"/>
            <a:round/>
            <a:headEnd len="sm" w="sm" type="none"/>
            <a:tailEnd len="sm" w="sm" type="none"/>
          </a:ln>
        </p:spPr>
      </p:cxnSp>
      <p:sp>
        <p:nvSpPr>
          <p:cNvPr id="260" name="Google Shape;260;p9"/>
          <p:cNvSpPr/>
          <p:nvPr/>
        </p:nvSpPr>
        <p:spPr>
          <a:xfrm>
            <a:off x="4672013" y="4313597"/>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1" name="Google Shape;261;p9"/>
          <p:cNvSpPr/>
          <p:nvPr/>
        </p:nvSpPr>
        <p:spPr>
          <a:xfrm>
            <a:off x="4672013" y="4313597"/>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08</a:t>
            </a:r>
            <a:endParaRPr b="0" i="0" sz="800" u="none" cap="none" strike="noStrike">
              <a:solidFill>
                <a:schemeClr val="dk1"/>
              </a:solidFill>
              <a:latin typeface="Calibri"/>
              <a:ea typeface="Calibri"/>
              <a:cs typeface="Calibri"/>
              <a:sym typeface="Calibri"/>
            </a:endParaRPr>
          </a:p>
        </p:txBody>
      </p:sp>
      <p:sp>
        <p:nvSpPr>
          <p:cNvPr id="262" name="Google Shape;262;p9"/>
          <p:cNvSpPr/>
          <p:nvPr/>
        </p:nvSpPr>
        <p:spPr>
          <a:xfrm>
            <a:off x="5000625" y="4313597"/>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JSON repair &amp; LLM gateway</a:t>
            </a:r>
            <a:endParaRPr b="0" i="0" sz="816" u="none" cap="none" strike="noStrike">
              <a:solidFill>
                <a:schemeClr val="dk1"/>
              </a:solidFill>
              <a:latin typeface="Calibri"/>
              <a:ea typeface="Calibri"/>
              <a:cs typeface="Calibri"/>
              <a:sym typeface="Calibri"/>
            </a:endParaRPr>
          </a:p>
        </p:txBody>
      </p:sp>
      <p:sp>
        <p:nvSpPr>
          <p:cNvPr id="263" name="Google Shape;263;p9"/>
          <p:cNvSpPr/>
          <p:nvPr/>
        </p:nvSpPr>
        <p:spPr>
          <a:xfrm>
            <a:off x="5000625" y="4466406"/>
            <a:ext cx="3629025" cy="357299"/>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Co-developed the </a:t>
            </a:r>
            <a:r>
              <a:rPr b="0" i="0" lang="en-US" sz="800" u="none" cap="none" strike="noStrike">
                <a:solidFill>
                  <a:srgbClr val="1E4D4A"/>
                </a:solidFill>
                <a:latin typeface="Courier New"/>
                <a:ea typeface="Courier New"/>
                <a:cs typeface="Courier New"/>
                <a:sym typeface="Courier New"/>
              </a:rPr>
              <a:t>call_llm</a:t>
            </a:r>
            <a:r>
              <a:rPr b="0" i="0" lang="en-US" sz="800" u="none" cap="none" strike="noStrike">
                <a:solidFill>
                  <a:srgbClr val="4A4A4A"/>
                </a:solidFill>
                <a:latin typeface="Carlito"/>
                <a:ea typeface="Carlito"/>
                <a:cs typeface="Carlito"/>
                <a:sym typeface="Carlito"/>
              </a:rPr>
              <a:t> gateway with 3× retry + exponential back-off, token-usage tracking, and a 4-stage </a:t>
            </a:r>
            <a:r>
              <a:rPr b="0" i="0" lang="en-US" sz="800" u="none" cap="none" strike="noStrike">
                <a:solidFill>
                  <a:srgbClr val="1E4D4A"/>
                </a:solidFill>
                <a:latin typeface="Courier New"/>
                <a:ea typeface="Courier New"/>
                <a:cs typeface="Courier New"/>
                <a:sym typeface="Courier New"/>
              </a:rPr>
              <a:t>parse_llm_json</a:t>
            </a:r>
            <a:r>
              <a:rPr b="0" i="0" lang="en-US" sz="800" u="none" cap="none" strike="noStrike">
                <a:solidFill>
                  <a:srgbClr val="4A4A4A"/>
                </a:solidFill>
                <a:latin typeface="Carlito"/>
                <a:ea typeface="Carlito"/>
                <a:cs typeface="Carlito"/>
                <a:sym typeface="Carlito"/>
              </a:rPr>
              <a:t> repair pipeline (fences, control chars, unescaped quotes, truncation).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68" name="Shape 268"/>
        <p:cNvGrpSpPr/>
        <p:nvPr/>
      </p:nvGrpSpPr>
      <p:grpSpPr>
        <a:xfrm>
          <a:off x="0" y="0"/>
          <a:ext cx="0" cy="0"/>
          <a:chOff x="0" y="0"/>
          <a:chExt cx="0" cy="0"/>
        </a:xfrm>
      </p:grpSpPr>
      <p:cxnSp>
        <p:nvCxnSpPr>
          <p:cNvPr id="269" name="Google Shape;269;p10"/>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270" name="Google Shape;270;p10"/>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271" name="Google Shape;271;p10"/>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08 / 12</a:t>
            </a:r>
            <a:endParaRPr b="0" i="0" sz="800" u="none" cap="none" strike="noStrike">
              <a:solidFill>
                <a:schemeClr val="dk1"/>
              </a:solidFill>
              <a:latin typeface="Calibri"/>
              <a:ea typeface="Calibri"/>
              <a:cs typeface="Calibri"/>
              <a:sym typeface="Calibri"/>
            </a:endParaRPr>
          </a:p>
        </p:txBody>
      </p:sp>
      <p:sp>
        <p:nvSpPr>
          <p:cNvPr id="272" name="Google Shape;272;p10"/>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TOOLS OF THE TRADE</a:t>
            </a:r>
            <a:endParaRPr b="0" i="0" sz="800" u="none" cap="none" strike="noStrike">
              <a:solidFill>
                <a:schemeClr val="dk1"/>
              </a:solidFill>
              <a:latin typeface="Calibri"/>
              <a:ea typeface="Calibri"/>
              <a:cs typeface="Calibri"/>
              <a:sym typeface="Calibri"/>
            </a:endParaRPr>
          </a:p>
        </p:txBody>
      </p:sp>
      <p:sp>
        <p:nvSpPr>
          <p:cNvPr id="273" name="Google Shape;273;p10"/>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Technologies and tools used</a:t>
            </a:r>
            <a:endParaRPr b="0" i="0" sz="2363" u="none" cap="none" strike="noStrike">
              <a:solidFill>
                <a:schemeClr val="dk1"/>
              </a:solidFill>
              <a:latin typeface="Calibri"/>
              <a:ea typeface="Calibri"/>
              <a:cs typeface="Calibri"/>
              <a:sym typeface="Calibri"/>
            </a:endParaRPr>
          </a:p>
        </p:txBody>
      </p:sp>
      <p:sp>
        <p:nvSpPr>
          <p:cNvPr id="274" name="Google Shape;274;p10"/>
          <p:cNvSpPr/>
          <p:nvPr/>
        </p:nvSpPr>
        <p:spPr>
          <a:xfrm>
            <a:off x="514350" y="1358652"/>
            <a:ext cx="6572250" cy="212531"/>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A polyglot stack pairing a Python backend with a React frontend and an external layer of foundation-model APIs.</a:t>
            </a:r>
            <a:endParaRPr b="0" i="0" sz="1069" u="none" cap="none" strike="noStrike">
              <a:solidFill>
                <a:schemeClr val="dk1"/>
              </a:solidFill>
              <a:latin typeface="Calibri"/>
              <a:ea typeface="Calibri"/>
              <a:cs typeface="Calibri"/>
              <a:sym typeface="Calibri"/>
            </a:endParaRPr>
          </a:p>
        </p:txBody>
      </p:sp>
      <p:graphicFrame>
        <p:nvGraphicFramePr>
          <p:cNvPr id="275" name="Google Shape;275;p10"/>
          <p:cNvGraphicFramePr/>
          <p:nvPr/>
        </p:nvGraphicFramePr>
        <p:xfrm>
          <a:off x="514350" y="1841190"/>
          <a:ext cx="3000000" cy="3000000"/>
        </p:xfrm>
        <a:graphic>
          <a:graphicData uri="http://schemas.openxmlformats.org/drawingml/2006/table">
            <a:tbl>
              <a:tblPr>
                <a:noFill/>
                <a:tableStyleId>{199B88B6-FBCB-4CA2-9A1E-9AC02C2547B8}</a:tableStyleId>
              </a:tblPr>
              <a:tblGrid>
                <a:gridCol w="1785275"/>
                <a:gridCol w="2272275"/>
                <a:gridCol w="4057750"/>
              </a:tblGrid>
              <a:tr h="101600">
                <a:tc>
                  <a:txBody>
                    <a:bodyPr/>
                    <a:lstStyle/>
                    <a:p>
                      <a:pPr indent="0" lvl="0" marL="0" marR="0" rtl="0" algn="l">
                        <a:spcBef>
                          <a:spcPts val="0"/>
                        </a:spcBef>
                        <a:spcAft>
                          <a:spcPts val="0"/>
                        </a:spcAft>
                        <a:buClr>
                          <a:srgbClr val="8A8A8A"/>
                        </a:buClr>
                        <a:buSzPts val="800"/>
                        <a:buFont typeface="Carlito"/>
                        <a:buNone/>
                      </a:pPr>
                      <a:r>
                        <a:rPr b="1" lang="en-US" sz="800" u="none" cap="none" strike="noStrike">
                          <a:solidFill>
                            <a:srgbClr val="8A8A8A"/>
                          </a:solidFill>
                          <a:latin typeface="Carlito"/>
                          <a:ea typeface="Carlito"/>
                          <a:cs typeface="Carlito"/>
                          <a:sym typeface="Carlito"/>
                        </a:rPr>
                        <a:t>Layer</a:t>
                      </a:r>
                      <a:endParaRPr sz="800" u="none" cap="none" strike="noStrike">
                        <a:latin typeface="Carlito"/>
                        <a:ea typeface="Carlito"/>
                        <a:cs typeface="Carlito"/>
                        <a:sym typeface="Carlito"/>
                      </a:endParaRPr>
                    </a:p>
                  </a:txBody>
                  <a:tcPr marT="100025" marB="57150" marR="100025" marL="5715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8A8A8A"/>
                        </a:buClr>
                        <a:buSzPts val="800"/>
                        <a:buFont typeface="Carlito"/>
                        <a:buNone/>
                      </a:pPr>
                      <a:r>
                        <a:rPr b="1" lang="en-US" sz="800" u="none" cap="none" strike="noStrike">
                          <a:solidFill>
                            <a:srgbClr val="8A8A8A"/>
                          </a:solidFill>
                          <a:latin typeface="Carlito"/>
                          <a:ea typeface="Carlito"/>
                          <a:cs typeface="Carlito"/>
                          <a:sym typeface="Carlito"/>
                        </a:rPr>
                        <a:t>Technology</a:t>
                      </a:r>
                      <a:endParaRPr sz="800" u="none" cap="none" strike="noStrike">
                        <a:latin typeface="Carlito"/>
                        <a:ea typeface="Carlito"/>
                        <a:cs typeface="Carlito"/>
                        <a:sym typeface="Carlito"/>
                      </a:endParaRPr>
                    </a:p>
                  </a:txBody>
                  <a:tcPr marT="100025" marB="57150" marR="100025" marL="5715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8A8A8A"/>
                        </a:buClr>
                        <a:buSzPts val="800"/>
                        <a:buFont typeface="Carlito"/>
                        <a:buNone/>
                      </a:pPr>
                      <a:r>
                        <a:rPr b="1" lang="en-US" sz="800" u="none" cap="none" strike="noStrike">
                          <a:solidFill>
                            <a:srgbClr val="8A8A8A"/>
                          </a:solidFill>
                          <a:latin typeface="Carlito"/>
                          <a:ea typeface="Carlito"/>
                          <a:cs typeface="Carlito"/>
                          <a:sym typeface="Carlito"/>
                        </a:rPr>
                        <a:t>Role in the platform</a:t>
                      </a:r>
                      <a:endParaRPr sz="800" u="none" cap="none" strike="noStrike">
                        <a:latin typeface="Carlito"/>
                        <a:ea typeface="Carlito"/>
                        <a:cs typeface="Carlito"/>
                        <a:sym typeface="Carlito"/>
                      </a:endParaRPr>
                    </a:p>
                  </a:txBody>
                  <a:tcPr marT="100025" marB="57150" marR="100025" marL="5715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Backend</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Python 3.11 + FastAPI</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Application code, REST API, async background tasks, dependency injection.</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Database</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PostgreSQL + SQLAlchemy 2.0</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JSONB columns for agent outputs; typed Mapped[...] ORM; Alembic migrations.</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LLM</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Anthropic Claude (sonnet-4-6)</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Text generation for 5 agents + Vision (describe, caption, dimension estimate, theme).</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Image AI</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OpenAI / Grok / Gemini / Imagen 4</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Multi-provider image generation with identity preservation techniques per provider.</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Video AI</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xAI Grok video + Google Veo 3.1</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Grok: 3×5s stitched reels. Veo: single jewellery ad (fast/quality tiers).</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Media</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Pillow + ffmpeg</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Resize, contain-and-pad, product-inset compositing; stream-copy video stitch.</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600">
                <a:tc>
                  <a:txBody>
                    <a:bodyPr/>
                    <a:lstStyle/>
                    <a:p>
                      <a:pPr indent="0" lvl="0" marL="0" marR="0" rtl="0" algn="l">
                        <a:spcBef>
                          <a:spcPts val="0"/>
                        </a:spcBef>
                        <a:spcAft>
                          <a:spcPts val="0"/>
                        </a:spcAft>
                        <a:buClr>
                          <a:srgbClr val="1F1F1F"/>
                        </a:buClr>
                        <a:buSzPts val="800"/>
                        <a:buFont typeface="Carlito"/>
                        <a:buNone/>
                      </a:pPr>
                      <a:r>
                        <a:rPr lang="en-US" sz="800" u="none" cap="none" strike="noStrike">
                          <a:solidFill>
                            <a:srgbClr val="1F1F1F"/>
                          </a:solidFill>
                          <a:latin typeface="Carlito"/>
                          <a:ea typeface="Carlito"/>
                          <a:cs typeface="Carlito"/>
                          <a:sym typeface="Carlito"/>
                        </a:rPr>
                        <a:t>Storage</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1E4D4A"/>
                        </a:buClr>
                        <a:buSzPts val="800"/>
                        <a:buFont typeface="Courier New"/>
                        <a:buNone/>
                      </a:pPr>
                      <a:r>
                        <a:rPr lang="en-US" sz="800" u="none" cap="none" strike="noStrike">
                          <a:solidFill>
                            <a:srgbClr val="1E4D4A"/>
                          </a:solidFill>
                          <a:latin typeface="Courier New"/>
                          <a:ea typeface="Courier New"/>
                          <a:cs typeface="Courier New"/>
                          <a:sym typeface="Courier New"/>
                        </a:rPr>
                        <a:t>Local / S3 (factory pattern)</a:t>
                      </a:r>
                      <a:endParaRPr sz="800" u="none" cap="none" strike="noStrike">
                        <a:latin typeface="Courier New"/>
                        <a:ea typeface="Courier New"/>
                        <a:cs typeface="Courier New"/>
                        <a:sym typeface="Courier New"/>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marR="0" rtl="0" algn="l">
                        <a:spcBef>
                          <a:spcPts val="0"/>
                        </a:spcBef>
                        <a:spcAft>
                          <a:spcPts val="0"/>
                        </a:spcAft>
                        <a:buClr>
                          <a:srgbClr val="4A4A4A"/>
                        </a:buClr>
                        <a:buSzPts val="800"/>
                        <a:buFont typeface="Carlito"/>
                        <a:buNone/>
                      </a:pPr>
                      <a:r>
                        <a:rPr lang="en-US" sz="800" u="none" cap="none" strike="noStrike">
                          <a:solidFill>
                            <a:srgbClr val="4A4A4A"/>
                          </a:solidFill>
                          <a:latin typeface="Carlito"/>
                          <a:ea typeface="Carlito"/>
                          <a:cs typeface="Carlito"/>
                          <a:sym typeface="Carlito"/>
                        </a:rPr>
                        <a:t>Pluggable binary asset storage with presigned 24-hour download URLs.</a:t>
                      </a:r>
                      <a:endParaRPr sz="800" u="none" cap="none" strike="noStrike">
                        <a:latin typeface="Carlito"/>
                        <a:ea typeface="Carlito"/>
                        <a:cs typeface="Carlito"/>
                        <a:sym typeface="Carlito"/>
                      </a:endParaRPr>
                    </a:p>
                  </a:txBody>
                  <a:tcPr marT="100025" marB="64300" marR="100025" marL="6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cxnSp>
        <p:nvCxnSpPr>
          <p:cNvPr id="276" name="Google Shape;276;p10"/>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277" name="Google Shape;277;p10"/>
          <p:cNvSpPr/>
          <p:nvPr/>
        </p:nvSpPr>
        <p:spPr>
          <a:xfrm>
            <a:off x="514350" y="4893469"/>
            <a:ext cx="547780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POLYGLOT STACK</a:t>
            </a:r>
            <a:r>
              <a:rPr b="0" i="0" lang="en-US" sz="800" u="none" cap="none" strike="noStrike">
                <a:solidFill>
                  <a:srgbClr val="8A8A8A"/>
                </a:solidFill>
                <a:latin typeface="Carlito"/>
                <a:ea typeface="Carlito"/>
                <a:cs typeface="Carlito"/>
                <a:sym typeface="Carlito"/>
              </a:rPr>
              <a:t> · BACKEND + AI ORCHESTRATION OWNED BY DATA SCIENCE &amp; AI TEAM</a:t>
            </a:r>
            <a:endParaRPr b="0" i="0" sz="800" u="none" cap="none" strike="noStrike">
              <a:solidFill>
                <a:schemeClr val="dk1"/>
              </a:solidFill>
              <a:latin typeface="Calibri"/>
              <a:ea typeface="Calibri"/>
              <a:cs typeface="Calibri"/>
              <a:sym typeface="Calibri"/>
            </a:endParaRPr>
          </a:p>
        </p:txBody>
      </p:sp>
      <p:sp>
        <p:nvSpPr>
          <p:cNvPr id="278" name="Google Shape;278;p10"/>
          <p:cNvSpPr/>
          <p:nvPr/>
        </p:nvSpPr>
        <p:spPr>
          <a:xfrm>
            <a:off x="6006443" y="4893469"/>
            <a:ext cx="273293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283" name="Shape 283"/>
        <p:cNvGrpSpPr/>
        <p:nvPr/>
      </p:nvGrpSpPr>
      <p:grpSpPr>
        <a:xfrm>
          <a:off x="0" y="0"/>
          <a:ext cx="0" cy="0"/>
          <a:chOff x="0" y="0"/>
          <a:chExt cx="0" cy="0"/>
        </a:xfrm>
      </p:grpSpPr>
      <p:cxnSp>
        <p:nvCxnSpPr>
          <p:cNvPr id="284" name="Google Shape;284;p11"/>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285" name="Google Shape;285;p11"/>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286" name="Google Shape;286;p11"/>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09 / 12</a:t>
            </a:r>
            <a:endParaRPr b="0" i="0" sz="800" u="none" cap="none" strike="noStrike">
              <a:solidFill>
                <a:schemeClr val="dk1"/>
              </a:solidFill>
              <a:latin typeface="Calibri"/>
              <a:ea typeface="Calibri"/>
              <a:cs typeface="Calibri"/>
              <a:sym typeface="Calibri"/>
            </a:endParaRPr>
          </a:p>
        </p:txBody>
      </p:sp>
      <p:sp>
        <p:nvSpPr>
          <p:cNvPr id="287" name="Google Shape;287;p11"/>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HOW THE WORK WAS DONE</a:t>
            </a:r>
            <a:endParaRPr b="0" i="0" sz="800" u="none" cap="none" strike="noStrike">
              <a:solidFill>
                <a:schemeClr val="dk1"/>
              </a:solidFill>
              <a:latin typeface="Calibri"/>
              <a:ea typeface="Calibri"/>
              <a:cs typeface="Calibri"/>
              <a:sym typeface="Calibri"/>
            </a:endParaRPr>
          </a:p>
        </p:txBody>
      </p:sp>
      <p:sp>
        <p:nvSpPr>
          <p:cNvPr id="288" name="Google Shape;288;p11"/>
          <p:cNvSpPr/>
          <p:nvPr/>
        </p:nvSpPr>
        <p:spPr>
          <a:xfrm>
            <a:off x="514350" y="971550"/>
            <a:ext cx="8629650"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Methodology — four phases over twelve weeks</a:t>
            </a:r>
            <a:endParaRPr b="0" i="0" sz="2363" u="none" cap="none" strike="noStrike">
              <a:solidFill>
                <a:schemeClr val="dk1"/>
              </a:solidFill>
              <a:latin typeface="Calibri"/>
              <a:ea typeface="Calibri"/>
              <a:cs typeface="Calibri"/>
              <a:sym typeface="Calibri"/>
            </a:endParaRPr>
          </a:p>
        </p:txBody>
      </p:sp>
      <p:sp>
        <p:nvSpPr>
          <p:cNvPr id="289" name="Google Shape;289;p11"/>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An agile, research-driven methodology combining weekly sprints with hypothesis-driven experimentation, structured code review, and continuous documentation.</a:t>
            </a:r>
            <a:endParaRPr b="0" i="0" sz="1069" u="none" cap="none" strike="noStrike">
              <a:solidFill>
                <a:schemeClr val="dk1"/>
              </a:solidFill>
              <a:latin typeface="Calibri"/>
              <a:ea typeface="Calibri"/>
              <a:cs typeface="Calibri"/>
              <a:sym typeface="Calibri"/>
            </a:endParaRPr>
          </a:p>
        </p:txBody>
      </p:sp>
      <p:sp>
        <p:nvSpPr>
          <p:cNvPr id="290" name="Google Shape;290;p11"/>
          <p:cNvSpPr/>
          <p:nvPr/>
        </p:nvSpPr>
        <p:spPr>
          <a:xfrm>
            <a:off x="281675" y="2463053"/>
            <a:ext cx="2494200" cy="12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WEEKS 1–2</a:t>
            </a:r>
            <a:endParaRPr b="0" i="0" sz="800" u="none" cap="none" strike="noStrike">
              <a:solidFill>
                <a:schemeClr val="dk1"/>
              </a:solidFill>
              <a:latin typeface="Calibri"/>
              <a:ea typeface="Calibri"/>
              <a:cs typeface="Calibri"/>
              <a:sym typeface="Calibri"/>
            </a:endParaRPr>
          </a:p>
        </p:txBody>
      </p:sp>
      <p:sp>
        <p:nvSpPr>
          <p:cNvPr id="291" name="Google Shape;291;p11"/>
          <p:cNvSpPr/>
          <p:nvPr/>
        </p:nvSpPr>
        <p:spPr>
          <a:xfrm>
            <a:off x="376609" y="2618877"/>
            <a:ext cx="2304300" cy="207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Discovery</a:t>
            </a:r>
            <a:endParaRPr b="0" i="0" sz="1013" u="none" cap="none" strike="noStrike">
              <a:solidFill>
                <a:schemeClr val="dk1"/>
              </a:solidFill>
              <a:latin typeface="Calibri"/>
              <a:ea typeface="Calibri"/>
              <a:cs typeface="Calibri"/>
              <a:sym typeface="Calibri"/>
            </a:endParaRPr>
          </a:p>
        </p:txBody>
      </p:sp>
      <p:sp>
        <p:nvSpPr>
          <p:cNvPr id="292" name="Google Shape;292;p11"/>
          <p:cNvSpPr/>
          <p:nvPr/>
        </p:nvSpPr>
        <p:spPr>
          <a:xfrm>
            <a:off x="628640" y="2884693"/>
            <a:ext cx="1800300" cy="844800"/>
          </a:xfrm>
          <a:prstGeom prst="rect">
            <a:avLst/>
          </a:prstGeom>
          <a:noFill/>
          <a:ln>
            <a:noFill/>
          </a:ln>
        </p:spPr>
        <p:txBody>
          <a:bodyPr anchorCtr="0" anchor="t" bIns="0" lIns="0" spcFirstLastPara="1" rIns="0" wrap="square" tIns="0">
            <a:noAutofit/>
          </a:bodyPr>
          <a:lstStyle/>
          <a:p>
            <a:pPr indent="0" lvl="0" marL="0" marR="0" rtl="0" algn="ctr">
              <a:lnSpc>
                <a:spcPct val="121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Read the codebase end-to-end. Set up local dev env with Docker. Walk every module with the senior engineer. Deliver: written architecture summary + draft objectives.</a:t>
            </a:r>
            <a:endParaRPr b="0" i="0" sz="800" u="none" cap="none" strike="noStrike">
              <a:solidFill>
                <a:schemeClr val="dk1"/>
              </a:solidFill>
              <a:latin typeface="Calibri"/>
              <a:ea typeface="Calibri"/>
              <a:cs typeface="Calibri"/>
              <a:sym typeface="Calibri"/>
            </a:endParaRPr>
          </a:p>
        </p:txBody>
      </p:sp>
      <p:sp>
        <p:nvSpPr>
          <p:cNvPr id="293" name="Google Shape;293;p11"/>
          <p:cNvSpPr/>
          <p:nvPr/>
        </p:nvSpPr>
        <p:spPr>
          <a:xfrm>
            <a:off x="2310502" y="2463053"/>
            <a:ext cx="2494200" cy="12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WEEKS 3–7</a:t>
            </a:r>
            <a:endParaRPr b="0" i="0" sz="800" u="none" cap="none" strike="noStrike">
              <a:solidFill>
                <a:schemeClr val="dk1"/>
              </a:solidFill>
              <a:latin typeface="Calibri"/>
              <a:ea typeface="Calibri"/>
              <a:cs typeface="Calibri"/>
              <a:sym typeface="Calibri"/>
            </a:endParaRPr>
          </a:p>
        </p:txBody>
      </p:sp>
      <p:sp>
        <p:nvSpPr>
          <p:cNvPr id="294" name="Google Shape;294;p11"/>
          <p:cNvSpPr/>
          <p:nvPr/>
        </p:nvSpPr>
        <p:spPr>
          <a:xfrm>
            <a:off x="2612461" y="2618877"/>
            <a:ext cx="1890300" cy="207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Implementation</a:t>
            </a:r>
            <a:endParaRPr b="0" i="0" sz="1013" u="none" cap="none" strike="noStrike">
              <a:solidFill>
                <a:schemeClr val="dk1"/>
              </a:solidFill>
              <a:latin typeface="Calibri"/>
              <a:ea typeface="Calibri"/>
              <a:cs typeface="Calibri"/>
              <a:sym typeface="Calibri"/>
            </a:endParaRPr>
          </a:p>
        </p:txBody>
      </p:sp>
      <p:sp>
        <p:nvSpPr>
          <p:cNvPr id="295" name="Google Shape;295;p11"/>
          <p:cNvSpPr/>
          <p:nvPr/>
        </p:nvSpPr>
        <p:spPr>
          <a:xfrm>
            <a:off x="2657467" y="2884693"/>
            <a:ext cx="1800300" cy="844800"/>
          </a:xfrm>
          <a:prstGeom prst="rect">
            <a:avLst/>
          </a:prstGeom>
          <a:noFill/>
          <a:ln>
            <a:noFill/>
          </a:ln>
        </p:spPr>
        <p:txBody>
          <a:bodyPr anchorCtr="0" anchor="t" bIns="0" lIns="0" spcFirstLastPara="1" rIns="0" wrap="square" tIns="0">
            <a:noAutofit/>
          </a:bodyPr>
          <a:lstStyle/>
          <a:p>
            <a:pPr indent="0" lvl="0" marL="0" marR="0" rtl="0" algn="ctr">
              <a:lnSpc>
                <a:spcPct val="121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Two-week sprints with planning, daily stand-ups, and pull-request code reviews. Concentrated on image + video service modules and the layered prompt builder.</a:t>
            </a:r>
            <a:endParaRPr b="0" i="0" sz="800" u="none" cap="none" strike="noStrike">
              <a:solidFill>
                <a:schemeClr val="dk1"/>
              </a:solidFill>
              <a:latin typeface="Calibri"/>
              <a:ea typeface="Calibri"/>
              <a:cs typeface="Calibri"/>
              <a:sym typeface="Calibri"/>
            </a:endParaRPr>
          </a:p>
        </p:txBody>
      </p:sp>
      <p:sp>
        <p:nvSpPr>
          <p:cNvPr id="296" name="Google Shape;296;p11"/>
          <p:cNvSpPr/>
          <p:nvPr/>
        </p:nvSpPr>
        <p:spPr>
          <a:xfrm>
            <a:off x="4436540" y="2463053"/>
            <a:ext cx="2299800" cy="12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WEEKS 8–10</a:t>
            </a:r>
            <a:endParaRPr b="0" i="0" sz="800" u="none" cap="none" strike="noStrike">
              <a:solidFill>
                <a:schemeClr val="dk1"/>
              </a:solidFill>
              <a:latin typeface="Calibri"/>
              <a:ea typeface="Calibri"/>
              <a:cs typeface="Calibri"/>
              <a:sym typeface="Calibri"/>
            </a:endParaRPr>
          </a:p>
        </p:txBody>
      </p:sp>
      <p:sp>
        <p:nvSpPr>
          <p:cNvPr id="297" name="Google Shape;297;p11"/>
          <p:cNvSpPr/>
          <p:nvPr/>
        </p:nvSpPr>
        <p:spPr>
          <a:xfrm>
            <a:off x="4531475" y="2618877"/>
            <a:ext cx="2109900" cy="207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Refinement</a:t>
            </a:r>
            <a:endParaRPr b="0" i="0" sz="1013" u="none" cap="none" strike="noStrike">
              <a:solidFill>
                <a:schemeClr val="dk1"/>
              </a:solidFill>
              <a:latin typeface="Calibri"/>
              <a:ea typeface="Calibri"/>
              <a:cs typeface="Calibri"/>
              <a:sym typeface="Calibri"/>
            </a:endParaRPr>
          </a:p>
        </p:txBody>
      </p:sp>
      <p:sp>
        <p:nvSpPr>
          <p:cNvPr id="298" name="Google Shape;298;p11"/>
          <p:cNvSpPr/>
          <p:nvPr/>
        </p:nvSpPr>
        <p:spPr>
          <a:xfrm>
            <a:off x="4686294" y="2884693"/>
            <a:ext cx="1800300" cy="1056000"/>
          </a:xfrm>
          <a:prstGeom prst="rect">
            <a:avLst/>
          </a:prstGeom>
          <a:noFill/>
          <a:ln>
            <a:noFill/>
          </a:ln>
        </p:spPr>
        <p:txBody>
          <a:bodyPr anchorCtr="0" anchor="t" bIns="0" lIns="0" spcFirstLastPara="1" rIns="0" wrap="square" tIns="0">
            <a:noAutofit/>
          </a:bodyPr>
          <a:lstStyle/>
          <a:p>
            <a:pPr indent="0" lvl="0" marL="0" marR="0" rtl="0" algn="ctr">
              <a:lnSpc>
                <a:spcPct val="121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Hypothesis-driven prompt engineering. Formulate hypothesis → design eval corpus → A/B test with/without change → measure → document in experiment log → review with mentor.</a:t>
            </a:r>
            <a:endParaRPr b="0" i="0" sz="800" u="none" cap="none" strike="noStrike">
              <a:solidFill>
                <a:schemeClr val="dk1"/>
              </a:solidFill>
              <a:latin typeface="Calibri"/>
              <a:ea typeface="Calibri"/>
              <a:cs typeface="Calibri"/>
              <a:sym typeface="Calibri"/>
            </a:endParaRPr>
          </a:p>
        </p:txBody>
      </p:sp>
      <p:sp>
        <p:nvSpPr>
          <p:cNvPr id="299" name="Google Shape;299;p11"/>
          <p:cNvSpPr/>
          <p:nvPr/>
        </p:nvSpPr>
        <p:spPr>
          <a:xfrm>
            <a:off x="6465367" y="2463053"/>
            <a:ext cx="2299800" cy="12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WEEKS 11–12</a:t>
            </a:r>
            <a:endParaRPr b="0" i="0" sz="800" u="none" cap="none" strike="noStrike">
              <a:solidFill>
                <a:schemeClr val="dk1"/>
              </a:solidFill>
              <a:latin typeface="Calibri"/>
              <a:ea typeface="Calibri"/>
              <a:cs typeface="Calibri"/>
              <a:sym typeface="Calibri"/>
            </a:endParaRPr>
          </a:p>
        </p:txBody>
      </p:sp>
      <p:sp>
        <p:nvSpPr>
          <p:cNvPr id="300" name="Google Shape;300;p11"/>
          <p:cNvSpPr/>
          <p:nvPr/>
        </p:nvSpPr>
        <p:spPr>
          <a:xfrm>
            <a:off x="6560301" y="2618877"/>
            <a:ext cx="2109900" cy="207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1F1F"/>
              </a:buClr>
              <a:buSzPts val="1013"/>
              <a:buFont typeface="Tinos"/>
              <a:buNone/>
            </a:pPr>
            <a:r>
              <a:rPr b="1" i="0" lang="en-US" sz="1013" u="none" cap="none" strike="noStrike">
                <a:solidFill>
                  <a:srgbClr val="1F1F1F"/>
                </a:solidFill>
                <a:latin typeface="Tinos"/>
                <a:ea typeface="Tinos"/>
                <a:cs typeface="Tinos"/>
                <a:sym typeface="Tinos"/>
              </a:rPr>
              <a:t>Documentation</a:t>
            </a:r>
            <a:endParaRPr b="0" i="0" sz="1013" u="none" cap="none" strike="noStrike">
              <a:solidFill>
                <a:schemeClr val="dk1"/>
              </a:solidFill>
              <a:latin typeface="Calibri"/>
              <a:ea typeface="Calibri"/>
              <a:cs typeface="Calibri"/>
              <a:sym typeface="Calibri"/>
            </a:endParaRPr>
          </a:p>
        </p:txBody>
      </p:sp>
      <p:sp>
        <p:nvSpPr>
          <p:cNvPr id="301" name="Google Shape;301;p11"/>
          <p:cNvSpPr/>
          <p:nvPr/>
        </p:nvSpPr>
        <p:spPr>
          <a:xfrm>
            <a:off x="6715120" y="2884693"/>
            <a:ext cx="1800300" cy="633600"/>
          </a:xfrm>
          <a:prstGeom prst="rect">
            <a:avLst/>
          </a:prstGeom>
          <a:noFill/>
          <a:ln>
            <a:noFill/>
          </a:ln>
        </p:spPr>
        <p:txBody>
          <a:bodyPr anchorCtr="0" anchor="t" bIns="0" lIns="0" spcFirstLastPara="1" rIns="0" wrap="square" tIns="0">
            <a:noAutofit/>
          </a:bodyPr>
          <a:lstStyle/>
          <a:p>
            <a:pPr indent="0" lvl="0" marL="0" marR="0" rtl="0" algn="ctr">
              <a:lnSpc>
                <a:spcPct val="121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Docstrings, README updates, architecture notes. Knowledge-transfer session for next intern cohort. This internship report.</a:t>
            </a:r>
            <a:endParaRPr b="0" i="0" sz="800" u="none" cap="none" strike="noStrike">
              <a:solidFill>
                <a:schemeClr val="dk1"/>
              </a:solidFill>
              <a:latin typeface="Calibri"/>
              <a:ea typeface="Calibri"/>
              <a:cs typeface="Calibri"/>
              <a:sym typeface="Calibri"/>
            </a:endParaRPr>
          </a:p>
        </p:txBody>
      </p:sp>
      <p:sp>
        <p:nvSpPr>
          <p:cNvPr id="302" name="Google Shape;302;p11"/>
          <p:cNvSpPr/>
          <p:nvPr/>
        </p:nvSpPr>
        <p:spPr>
          <a:xfrm>
            <a:off x="692944" y="3711401"/>
            <a:ext cx="7779544" cy="342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1F1F"/>
              </a:buClr>
              <a:buSzPts val="900"/>
              <a:buFont typeface="Tinos"/>
              <a:buNone/>
            </a:pPr>
            <a:r>
              <a:t/>
            </a:r>
            <a:endParaRPr b="0" i="0" sz="900" u="none" cap="none" strike="noStrike">
              <a:solidFill>
                <a:schemeClr val="dk1"/>
              </a:solidFill>
              <a:latin typeface="Calibri"/>
              <a:ea typeface="Calibri"/>
              <a:cs typeface="Calibri"/>
              <a:sym typeface="Calibri"/>
            </a:endParaRPr>
          </a:p>
        </p:txBody>
      </p:sp>
      <p:cxnSp>
        <p:nvCxnSpPr>
          <p:cNvPr id="303" name="Google Shape;303;p11"/>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304" name="Google Shape;304;p11"/>
          <p:cNvSpPr/>
          <p:nvPr/>
        </p:nvSpPr>
        <p:spPr>
          <a:xfrm>
            <a:off x="514350" y="4893469"/>
            <a:ext cx="4936108"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AGILE + RESEARCH-DRIVEN</a:t>
            </a:r>
            <a:r>
              <a:rPr b="0" i="0" lang="en-US" sz="800" u="none" cap="none" strike="noStrike">
                <a:solidFill>
                  <a:srgbClr val="8A8A8A"/>
                </a:solidFill>
                <a:latin typeface="Arial"/>
                <a:ea typeface="Arial"/>
                <a:cs typeface="Arial"/>
                <a:sym typeface="Arial"/>
              </a:rPr>
              <a:t> · SEE SECTION 4.8 OF THE REPORT</a:t>
            </a:r>
            <a:endParaRPr b="0" i="0" sz="800" u="none" cap="none" strike="noStrike">
              <a:solidFill>
                <a:schemeClr val="dk1"/>
              </a:solidFill>
              <a:latin typeface="Calibri"/>
              <a:ea typeface="Calibri"/>
              <a:cs typeface="Calibri"/>
              <a:sym typeface="Calibri"/>
            </a:endParaRPr>
          </a:p>
        </p:txBody>
      </p:sp>
      <p:sp>
        <p:nvSpPr>
          <p:cNvPr id="305" name="Google Shape;305;p11"/>
          <p:cNvSpPr/>
          <p:nvPr/>
        </p:nvSpPr>
        <p:spPr>
          <a:xfrm>
            <a:off x="5464746" y="4893469"/>
            <a:ext cx="3164904"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sp>
        <p:nvSpPr>
          <p:cNvPr id="306" name="Google Shape;306;p11"/>
          <p:cNvSpPr/>
          <p:nvPr/>
        </p:nvSpPr>
        <p:spPr>
          <a:xfrm>
            <a:off x="1489463" y="2220152"/>
            <a:ext cx="78600" cy="100800"/>
          </a:xfrm>
          <a:prstGeom prst="ellipse">
            <a:avLst/>
          </a:prstGeom>
          <a:solidFill>
            <a:srgbClr val="1E4D4A"/>
          </a:solidFill>
          <a:ln cap="flat" cmpd="sng" w="21425">
            <a:solidFill>
              <a:srgbClr val="FAF8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7" name="Google Shape;307;p11"/>
          <p:cNvSpPr/>
          <p:nvPr/>
        </p:nvSpPr>
        <p:spPr>
          <a:xfrm>
            <a:off x="3518290" y="2220152"/>
            <a:ext cx="78600" cy="100800"/>
          </a:xfrm>
          <a:prstGeom prst="ellipse">
            <a:avLst/>
          </a:prstGeom>
          <a:solidFill>
            <a:srgbClr val="1E4D4A"/>
          </a:solidFill>
          <a:ln cap="flat" cmpd="sng" w="21425">
            <a:solidFill>
              <a:srgbClr val="FAF8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8" name="Google Shape;308;p11"/>
          <p:cNvSpPr/>
          <p:nvPr/>
        </p:nvSpPr>
        <p:spPr>
          <a:xfrm>
            <a:off x="5547116" y="2220152"/>
            <a:ext cx="78600" cy="100800"/>
          </a:xfrm>
          <a:prstGeom prst="ellipse">
            <a:avLst/>
          </a:prstGeom>
          <a:solidFill>
            <a:srgbClr val="1E4D4A"/>
          </a:solidFill>
          <a:ln cap="flat" cmpd="sng" w="21425">
            <a:solidFill>
              <a:srgbClr val="FAF8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9" name="Google Shape;309;p11"/>
          <p:cNvSpPr/>
          <p:nvPr/>
        </p:nvSpPr>
        <p:spPr>
          <a:xfrm>
            <a:off x="7575943" y="2220152"/>
            <a:ext cx="78600" cy="100800"/>
          </a:xfrm>
          <a:prstGeom prst="ellipse">
            <a:avLst/>
          </a:prstGeom>
          <a:solidFill>
            <a:srgbClr val="1E4D4A"/>
          </a:solidFill>
          <a:ln cap="flat" cmpd="sng" w="21425">
            <a:solidFill>
              <a:srgbClr val="FAF8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14" name="Shape 314"/>
        <p:cNvGrpSpPr/>
        <p:nvPr/>
      </p:nvGrpSpPr>
      <p:grpSpPr>
        <a:xfrm>
          <a:off x="0" y="0"/>
          <a:ext cx="0" cy="0"/>
          <a:chOff x="0" y="0"/>
          <a:chExt cx="0" cy="0"/>
        </a:xfrm>
      </p:grpSpPr>
      <p:cxnSp>
        <p:nvCxnSpPr>
          <p:cNvPr id="315" name="Google Shape;315;p12"/>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316" name="Google Shape;316;p12"/>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317" name="Google Shape;317;p12"/>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10 / 12</a:t>
            </a:r>
            <a:endParaRPr b="0" i="0" sz="800" u="none" cap="none" strike="noStrike">
              <a:solidFill>
                <a:schemeClr val="dk1"/>
              </a:solidFill>
              <a:latin typeface="Calibri"/>
              <a:ea typeface="Calibri"/>
              <a:cs typeface="Calibri"/>
              <a:sym typeface="Calibri"/>
            </a:endParaRPr>
          </a:p>
        </p:txBody>
      </p:sp>
      <p:sp>
        <p:nvSpPr>
          <p:cNvPr id="318" name="Google Shape;318;p12"/>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WHAT WAS SHIPPED</a:t>
            </a:r>
            <a:endParaRPr b="0" i="0" sz="800" u="none" cap="none" strike="noStrike">
              <a:solidFill>
                <a:schemeClr val="dk1"/>
              </a:solidFill>
              <a:latin typeface="Calibri"/>
              <a:ea typeface="Calibri"/>
              <a:cs typeface="Calibri"/>
              <a:sym typeface="Calibri"/>
            </a:endParaRPr>
          </a:p>
        </p:txBody>
      </p:sp>
      <p:sp>
        <p:nvSpPr>
          <p:cNvPr id="319" name="Google Shape;319;p12"/>
          <p:cNvSpPr/>
          <p:nvPr/>
        </p:nvSpPr>
        <p:spPr>
          <a:xfrm>
            <a:off x="514350" y="971550"/>
            <a:ext cx="8521065"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Six tangible outcomes</a:t>
            </a:r>
            <a:endParaRPr b="0" i="0" sz="2363" u="none" cap="none" strike="noStrike">
              <a:solidFill>
                <a:schemeClr val="dk1"/>
              </a:solidFill>
              <a:latin typeface="Calibri"/>
              <a:ea typeface="Calibri"/>
              <a:cs typeface="Calibri"/>
              <a:sym typeface="Calibri"/>
            </a:endParaRPr>
          </a:p>
        </p:txBody>
      </p:sp>
      <p:sp>
        <p:nvSpPr>
          <p:cNvPr id="320" name="Google Shape;320;p12"/>
          <p:cNvSpPr/>
          <p:nvPr/>
        </p:nvSpPr>
        <p:spPr>
          <a:xfrm>
            <a:off x="514350" y="1358652"/>
            <a:ext cx="6572250" cy="425062"/>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Concrete deliverables, with explicit attribution of individual vs co-developed work. Documented in Section 4.9 of the report.</a:t>
            </a:r>
            <a:endParaRPr b="0" i="0" sz="1069" u="none" cap="none" strike="noStrike">
              <a:solidFill>
                <a:schemeClr val="dk1"/>
              </a:solidFill>
              <a:latin typeface="Calibri"/>
              <a:ea typeface="Calibri"/>
              <a:cs typeface="Calibri"/>
              <a:sym typeface="Calibri"/>
            </a:endParaRPr>
          </a:p>
        </p:txBody>
      </p:sp>
      <p:cxnSp>
        <p:nvCxnSpPr>
          <p:cNvPr id="321" name="Google Shape;321;p12"/>
          <p:cNvCxnSpPr/>
          <p:nvPr/>
        </p:nvCxnSpPr>
        <p:spPr>
          <a:xfrm>
            <a:off x="514350" y="2831381"/>
            <a:ext cx="3957638" cy="0"/>
          </a:xfrm>
          <a:prstGeom prst="straightConnector1">
            <a:avLst/>
          </a:prstGeom>
          <a:noFill/>
          <a:ln cap="flat" cmpd="sng" w="9525">
            <a:solidFill>
              <a:srgbClr val="F1EEE6"/>
            </a:solidFill>
            <a:prstDash val="solid"/>
            <a:round/>
            <a:headEnd len="sm" w="sm" type="none"/>
            <a:tailEnd len="sm" w="sm" type="none"/>
          </a:ln>
        </p:spPr>
      </p:cxnSp>
      <p:sp>
        <p:nvSpPr>
          <p:cNvPr id="322" name="Google Shape;322;p12"/>
          <p:cNvSpPr/>
          <p:nvPr/>
        </p:nvSpPr>
        <p:spPr>
          <a:xfrm>
            <a:off x="514350" y="206655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3" name="Google Shape;323;p12"/>
          <p:cNvSpPr/>
          <p:nvPr/>
        </p:nvSpPr>
        <p:spPr>
          <a:xfrm>
            <a:off x="514350" y="206655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01</a:t>
            </a:r>
            <a:endParaRPr b="0" i="0" sz="800" u="none" cap="none" strike="noStrike">
              <a:solidFill>
                <a:schemeClr val="dk1"/>
              </a:solidFill>
              <a:latin typeface="Calibri"/>
              <a:ea typeface="Calibri"/>
              <a:cs typeface="Calibri"/>
              <a:sym typeface="Calibri"/>
            </a:endParaRPr>
          </a:p>
        </p:txBody>
      </p:sp>
      <p:sp>
        <p:nvSpPr>
          <p:cNvPr id="324" name="Google Shape;324;p12"/>
          <p:cNvSpPr/>
          <p:nvPr/>
        </p:nvSpPr>
        <p:spPr>
          <a:xfrm>
            <a:off x="842963" y="2066553"/>
            <a:ext cx="3629025"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Layered prompt builder</a:t>
            </a:r>
            <a:endParaRPr b="0" i="0" sz="816" u="none" cap="none" strike="noStrike">
              <a:solidFill>
                <a:schemeClr val="dk1"/>
              </a:solidFill>
              <a:latin typeface="Calibri"/>
              <a:ea typeface="Calibri"/>
              <a:cs typeface="Calibri"/>
              <a:sym typeface="Calibri"/>
            </a:endParaRPr>
          </a:p>
        </p:txBody>
      </p:sp>
      <p:sp>
        <p:nvSpPr>
          <p:cNvPr id="325" name="Google Shape;325;p12"/>
          <p:cNvSpPr/>
          <p:nvPr/>
        </p:nvSpPr>
        <p:spPr>
          <a:xfrm>
            <a:off x="842963" y="2219362"/>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11-layer priority-ordered prompt assembler. The intern's largest individual contribution. Ensures scene content cannot be overridden by style instructions, and product identity is always preserved.</a:t>
            </a:r>
            <a:endParaRPr b="0" i="0" sz="800" u="none" cap="none" strike="noStrike">
              <a:solidFill>
                <a:schemeClr val="dk1"/>
              </a:solidFill>
              <a:latin typeface="Calibri"/>
              <a:ea typeface="Calibri"/>
              <a:cs typeface="Calibri"/>
              <a:sym typeface="Calibri"/>
            </a:endParaRPr>
          </a:p>
        </p:txBody>
      </p:sp>
      <p:cxnSp>
        <p:nvCxnSpPr>
          <p:cNvPr id="326" name="Google Shape;326;p12"/>
          <p:cNvCxnSpPr/>
          <p:nvPr/>
        </p:nvCxnSpPr>
        <p:spPr>
          <a:xfrm>
            <a:off x="4672013" y="2831381"/>
            <a:ext cx="3957638" cy="0"/>
          </a:xfrm>
          <a:prstGeom prst="straightConnector1">
            <a:avLst/>
          </a:prstGeom>
          <a:noFill/>
          <a:ln cap="flat" cmpd="sng" w="9525">
            <a:solidFill>
              <a:srgbClr val="F1EEE6"/>
            </a:solidFill>
            <a:prstDash val="solid"/>
            <a:round/>
            <a:headEnd len="sm" w="sm" type="none"/>
            <a:tailEnd len="sm" w="sm" type="none"/>
          </a:ln>
        </p:spPr>
      </p:cxnSp>
      <p:sp>
        <p:nvSpPr>
          <p:cNvPr id="327" name="Google Shape;327;p12"/>
          <p:cNvSpPr/>
          <p:nvPr/>
        </p:nvSpPr>
        <p:spPr>
          <a:xfrm>
            <a:off x="4672013" y="2066553"/>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8" name="Google Shape;328;p12"/>
          <p:cNvSpPr/>
          <p:nvPr/>
        </p:nvSpPr>
        <p:spPr>
          <a:xfrm>
            <a:off x="4672013" y="2066553"/>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02</a:t>
            </a:r>
            <a:endParaRPr b="0" i="0" sz="800" u="none" cap="none" strike="noStrike">
              <a:solidFill>
                <a:schemeClr val="dk1"/>
              </a:solidFill>
              <a:latin typeface="Calibri"/>
              <a:ea typeface="Calibri"/>
              <a:cs typeface="Calibri"/>
              <a:sym typeface="Calibri"/>
            </a:endParaRPr>
          </a:p>
        </p:txBody>
      </p:sp>
      <p:sp>
        <p:nvSpPr>
          <p:cNvPr id="329" name="Google Shape;329;p12"/>
          <p:cNvSpPr/>
          <p:nvPr/>
        </p:nvSpPr>
        <p:spPr>
          <a:xfrm>
            <a:off x="5000625" y="2066553"/>
            <a:ext cx="3738753"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Claude Vision integration</a:t>
            </a:r>
            <a:endParaRPr b="0" i="0" sz="816" u="none" cap="none" strike="noStrike">
              <a:solidFill>
                <a:schemeClr val="dk1"/>
              </a:solidFill>
              <a:latin typeface="Calibri"/>
              <a:ea typeface="Calibri"/>
              <a:cs typeface="Calibri"/>
              <a:sym typeface="Calibri"/>
            </a:endParaRPr>
          </a:p>
        </p:txBody>
      </p:sp>
      <p:sp>
        <p:nvSpPr>
          <p:cNvPr id="330" name="Google Shape;330;p12"/>
          <p:cNvSpPr/>
          <p:nvPr/>
        </p:nvSpPr>
        <p:spPr>
          <a:xfrm>
            <a:off x="5000625" y="2219362"/>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Four helpers: jewellery description, dimension estimation, occasion-theme authoring, image captioning. The single source of truth for product identity throughout the pipeline.</a:t>
            </a:r>
            <a:endParaRPr b="0" i="0" sz="800" u="none" cap="none" strike="noStrike">
              <a:solidFill>
                <a:schemeClr val="dk1"/>
              </a:solidFill>
              <a:latin typeface="Calibri"/>
              <a:ea typeface="Calibri"/>
              <a:cs typeface="Calibri"/>
              <a:sym typeface="Calibri"/>
            </a:endParaRPr>
          </a:p>
        </p:txBody>
      </p:sp>
      <p:cxnSp>
        <p:nvCxnSpPr>
          <p:cNvPr id="331" name="Google Shape;331;p12"/>
          <p:cNvCxnSpPr/>
          <p:nvPr/>
        </p:nvCxnSpPr>
        <p:spPr>
          <a:xfrm>
            <a:off x="514350" y="3785629"/>
            <a:ext cx="3957638" cy="0"/>
          </a:xfrm>
          <a:prstGeom prst="straightConnector1">
            <a:avLst/>
          </a:prstGeom>
          <a:noFill/>
          <a:ln cap="flat" cmpd="sng" w="9525">
            <a:solidFill>
              <a:srgbClr val="F1EEE6"/>
            </a:solidFill>
            <a:prstDash val="solid"/>
            <a:round/>
            <a:headEnd len="sm" w="sm" type="none"/>
            <a:tailEnd len="sm" w="sm" type="none"/>
          </a:ln>
        </p:spPr>
      </p:cxnSp>
      <p:sp>
        <p:nvSpPr>
          <p:cNvPr id="332" name="Google Shape;332;p12"/>
          <p:cNvSpPr/>
          <p:nvPr/>
        </p:nvSpPr>
        <p:spPr>
          <a:xfrm>
            <a:off x="514350" y="3020690"/>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3" name="Google Shape;333;p12"/>
          <p:cNvSpPr/>
          <p:nvPr/>
        </p:nvSpPr>
        <p:spPr>
          <a:xfrm>
            <a:off x="514350" y="3020690"/>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03</a:t>
            </a:r>
            <a:endParaRPr b="0" i="0" sz="800" u="none" cap="none" strike="noStrike">
              <a:solidFill>
                <a:schemeClr val="dk1"/>
              </a:solidFill>
              <a:latin typeface="Calibri"/>
              <a:ea typeface="Calibri"/>
              <a:cs typeface="Calibri"/>
              <a:sym typeface="Calibri"/>
            </a:endParaRPr>
          </a:p>
        </p:txBody>
      </p:sp>
      <p:sp>
        <p:nvSpPr>
          <p:cNvPr id="334" name="Google Shape;334;p12"/>
          <p:cNvSpPr/>
          <p:nvPr/>
        </p:nvSpPr>
        <p:spPr>
          <a:xfrm>
            <a:off x="842963" y="3020690"/>
            <a:ext cx="3738753"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Multi-provider image service</a:t>
            </a:r>
            <a:endParaRPr b="0" i="0" sz="816" u="none" cap="none" strike="noStrike">
              <a:solidFill>
                <a:schemeClr val="dk1"/>
              </a:solidFill>
              <a:latin typeface="Calibri"/>
              <a:ea typeface="Calibri"/>
              <a:cs typeface="Calibri"/>
              <a:sym typeface="Calibri"/>
            </a:endParaRPr>
          </a:p>
        </p:txBody>
      </p:sp>
      <p:sp>
        <p:nvSpPr>
          <p:cNvPr id="335" name="Google Shape;335;p12"/>
          <p:cNvSpPr/>
          <p:nvPr/>
        </p:nvSpPr>
        <p:spPr>
          <a:xfrm>
            <a:off x="842963" y="3173499"/>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Co-developed with senior engineer. Intern's individual work: OpenAI two-pass, Gemini system-instruction size calibration, Grok reference editing with text-only fallback.</a:t>
            </a:r>
            <a:endParaRPr b="0" i="0" sz="800" u="none" cap="none" strike="noStrike">
              <a:solidFill>
                <a:schemeClr val="dk1"/>
              </a:solidFill>
              <a:latin typeface="Calibri"/>
              <a:ea typeface="Calibri"/>
              <a:cs typeface="Calibri"/>
              <a:sym typeface="Calibri"/>
            </a:endParaRPr>
          </a:p>
        </p:txBody>
      </p:sp>
      <p:cxnSp>
        <p:nvCxnSpPr>
          <p:cNvPr id="336" name="Google Shape;336;p12"/>
          <p:cNvCxnSpPr/>
          <p:nvPr/>
        </p:nvCxnSpPr>
        <p:spPr>
          <a:xfrm>
            <a:off x="4672013" y="3785629"/>
            <a:ext cx="3957638" cy="0"/>
          </a:xfrm>
          <a:prstGeom prst="straightConnector1">
            <a:avLst/>
          </a:prstGeom>
          <a:noFill/>
          <a:ln cap="flat" cmpd="sng" w="9525">
            <a:solidFill>
              <a:srgbClr val="F1EEE6"/>
            </a:solidFill>
            <a:prstDash val="solid"/>
            <a:round/>
            <a:headEnd len="sm" w="sm" type="none"/>
            <a:tailEnd len="sm" w="sm" type="none"/>
          </a:ln>
        </p:spPr>
      </p:cxnSp>
      <p:sp>
        <p:nvSpPr>
          <p:cNvPr id="337" name="Google Shape;337;p12"/>
          <p:cNvSpPr/>
          <p:nvPr/>
        </p:nvSpPr>
        <p:spPr>
          <a:xfrm>
            <a:off x="4672013" y="3020690"/>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8" name="Google Shape;338;p12"/>
          <p:cNvSpPr/>
          <p:nvPr/>
        </p:nvSpPr>
        <p:spPr>
          <a:xfrm>
            <a:off x="4672013" y="3020690"/>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04</a:t>
            </a:r>
            <a:endParaRPr b="0" i="0" sz="800" u="none" cap="none" strike="noStrike">
              <a:solidFill>
                <a:schemeClr val="dk1"/>
              </a:solidFill>
              <a:latin typeface="Calibri"/>
              <a:ea typeface="Calibri"/>
              <a:cs typeface="Calibri"/>
              <a:sym typeface="Calibri"/>
            </a:endParaRPr>
          </a:p>
        </p:txBody>
      </p:sp>
      <p:sp>
        <p:nvSpPr>
          <p:cNvPr id="339" name="Google Shape;339;p12"/>
          <p:cNvSpPr/>
          <p:nvPr/>
        </p:nvSpPr>
        <p:spPr>
          <a:xfrm>
            <a:off x="5000625" y="3020690"/>
            <a:ext cx="3738753"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Video generation pipelines</a:t>
            </a:r>
            <a:endParaRPr b="0" i="0" sz="816" u="none" cap="none" strike="noStrike">
              <a:solidFill>
                <a:schemeClr val="dk1"/>
              </a:solidFill>
              <a:latin typeface="Calibri"/>
              <a:ea typeface="Calibri"/>
              <a:cs typeface="Calibri"/>
              <a:sym typeface="Calibri"/>
            </a:endParaRPr>
          </a:p>
        </p:txBody>
      </p:sp>
      <p:sp>
        <p:nvSpPr>
          <p:cNvPr id="340" name="Google Shape;340;p12"/>
          <p:cNvSpPr/>
          <p:nvPr/>
        </p:nvSpPr>
        <p:spPr>
          <a:xfrm>
            <a:off x="5000625" y="3173499"/>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Grok reel (3×5s + character anchor + ffmpeg stitch) and Veo 3.1 jewellery ad (3 source modes, fast/quality tier). Fresh-session error writeback to avoid poisoned transactions.</a:t>
            </a:r>
            <a:endParaRPr b="0" i="0" sz="800" u="none" cap="none" strike="noStrike">
              <a:solidFill>
                <a:schemeClr val="dk1"/>
              </a:solidFill>
              <a:latin typeface="Calibri"/>
              <a:ea typeface="Calibri"/>
              <a:cs typeface="Calibri"/>
              <a:sym typeface="Calibri"/>
            </a:endParaRPr>
          </a:p>
        </p:txBody>
      </p:sp>
      <p:cxnSp>
        <p:nvCxnSpPr>
          <p:cNvPr id="341" name="Google Shape;341;p12"/>
          <p:cNvCxnSpPr/>
          <p:nvPr/>
        </p:nvCxnSpPr>
        <p:spPr>
          <a:xfrm>
            <a:off x="514350" y="4739878"/>
            <a:ext cx="3957638" cy="0"/>
          </a:xfrm>
          <a:prstGeom prst="straightConnector1">
            <a:avLst/>
          </a:prstGeom>
          <a:noFill/>
          <a:ln cap="flat" cmpd="sng" w="9525">
            <a:solidFill>
              <a:srgbClr val="F1EEE6"/>
            </a:solidFill>
            <a:prstDash val="solid"/>
            <a:round/>
            <a:headEnd len="sm" w="sm" type="none"/>
            <a:tailEnd len="sm" w="sm" type="none"/>
          </a:ln>
        </p:spPr>
      </p:cxnSp>
      <p:sp>
        <p:nvSpPr>
          <p:cNvPr id="342" name="Google Shape;342;p12"/>
          <p:cNvSpPr/>
          <p:nvPr/>
        </p:nvSpPr>
        <p:spPr>
          <a:xfrm>
            <a:off x="514350" y="3974939"/>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3" name="Google Shape;343;p12"/>
          <p:cNvSpPr/>
          <p:nvPr/>
        </p:nvSpPr>
        <p:spPr>
          <a:xfrm>
            <a:off x="514350" y="3974939"/>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05</a:t>
            </a:r>
            <a:endParaRPr b="0" i="0" sz="800" u="none" cap="none" strike="noStrike">
              <a:solidFill>
                <a:schemeClr val="dk1"/>
              </a:solidFill>
              <a:latin typeface="Calibri"/>
              <a:ea typeface="Calibri"/>
              <a:cs typeface="Calibri"/>
              <a:sym typeface="Calibri"/>
            </a:endParaRPr>
          </a:p>
        </p:txBody>
      </p:sp>
      <p:sp>
        <p:nvSpPr>
          <p:cNvPr id="344" name="Google Shape;344;p12"/>
          <p:cNvSpPr/>
          <p:nvPr/>
        </p:nvSpPr>
        <p:spPr>
          <a:xfrm>
            <a:off x="842963" y="3974939"/>
            <a:ext cx="3738753"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Post-processing &amp; social export</a:t>
            </a:r>
            <a:endParaRPr b="0" i="0" sz="816" u="none" cap="none" strike="noStrike">
              <a:solidFill>
                <a:schemeClr val="dk1"/>
              </a:solidFill>
              <a:latin typeface="Calibri"/>
              <a:ea typeface="Calibri"/>
              <a:cs typeface="Calibri"/>
              <a:sym typeface="Calibri"/>
            </a:endParaRPr>
          </a:p>
        </p:txBody>
      </p:sp>
      <p:sp>
        <p:nvSpPr>
          <p:cNvPr id="345" name="Google Shape;345;p12"/>
          <p:cNvSpPr/>
          <p:nvPr/>
        </p:nvSpPr>
        <p:spPr>
          <a:xfrm>
            <a:off x="842963" y="4127748"/>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Resize to 6 social sizes (Grok + PIL fallback), product-inset badge compositing, 24-hour presigned download URLs, </a:t>
            </a:r>
            <a:r>
              <a:rPr b="0" i="0" lang="en-US" sz="800" u="none" cap="none" strike="noStrike">
                <a:solidFill>
                  <a:srgbClr val="1E4D4A"/>
                </a:solidFill>
                <a:latin typeface="Courier New"/>
                <a:ea typeface="Courier New"/>
                <a:cs typeface="Courier New"/>
                <a:sym typeface="Courier New"/>
              </a:rPr>
              <a:t>InsufficientCreditsError</a:t>
            </a:r>
            <a:r>
              <a:rPr b="0" i="0" lang="en-US" sz="800" u="none" cap="none" strike="noStrike">
                <a:solidFill>
                  <a:srgbClr val="4A4A4A"/>
                </a:solidFill>
                <a:latin typeface="Arial"/>
                <a:ea typeface="Arial"/>
                <a:cs typeface="Arial"/>
                <a:sym typeface="Arial"/>
              </a:rPr>
              <a:t> → HTTP 402.</a:t>
            </a:r>
            <a:endParaRPr b="0" i="0" sz="800" u="none" cap="none" strike="noStrike">
              <a:solidFill>
                <a:schemeClr val="dk1"/>
              </a:solidFill>
              <a:latin typeface="Calibri"/>
              <a:ea typeface="Calibri"/>
              <a:cs typeface="Calibri"/>
              <a:sym typeface="Calibri"/>
            </a:endParaRPr>
          </a:p>
        </p:txBody>
      </p:sp>
      <p:cxnSp>
        <p:nvCxnSpPr>
          <p:cNvPr id="346" name="Google Shape;346;p12"/>
          <p:cNvCxnSpPr/>
          <p:nvPr/>
        </p:nvCxnSpPr>
        <p:spPr>
          <a:xfrm>
            <a:off x="4672013" y="4739878"/>
            <a:ext cx="3957638" cy="0"/>
          </a:xfrm>
          <a:prstGeom prst="straightConnector1">
            <a:avLst/>
          </a:prstGeom>
          <a:noFill/>
          <a:ln cap="flat" cmpd="sng" w="9525">
            <a:solidFill>
              <a:srgbClr val="F1EEE6"/>
            </a:solidFill>
            <a:prstDash val="solid"/>
            <a:round/>
            <a:headEnd len="sm" w="sm" type="none"/>
            <a:tailEnd len="sm" w="sm" type="none"/>
          </a:ln>
        </p:spPr>
      </p:cxnSp>
      <p:sp>
        <p:nvSpPr>
          <p:cNvPr id="347" name="Google Shape;347;p12"/>
          <p:cNvSpPr/>
          <p:nvPr/>
        </p:nvSpPr>
        <p:spPr>
          <a:xfrm>
            <a:off x="4672013" y="3974939"/>
            <a:ext cx="228600" cy="228600"/>
          </a:xfrm>
          <a:prstGeom prst="ellipse">
            <a:avLst/>
          </a:prstGeom>
          <a:solidFill>
            <a:srgbClr val="1F1F1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8" name="Google Shape;348;p12"/>
          <p:cNvSpPr/>
          <p:nvPr/>
        </p:nvSpPr>
        <p:spPr>
          <a:xfrm>
            <a:off x="4672013" y="3974939"/>
            <a:ext cx="27860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AF8F3"/>
              </a:buClr>
              <a:buSzPts val="800"/>
              <a:buFont typeface="Arial"/>
              <a:buNone/>
            </a:pPr>
            <a:r>
              <a:rPr b="0" i="0" lang="en-US" sz="800" u="none" cap="none" strike="noStrike">
                <a:solidFill>
                  <a:srgbClr val="FAF8F3"/>
                </a:solidFill>
                <a:latin typeface="Arial"/>
                <a:ea typeface="Arial"/>
                <a:cs typeface="Arial"/>
                <a:sym typeface="Arial"/>
              </a:rPr>
              <a:t>06</a:t>
            </a:r>
            <a:endParaRPr b="0" i="0" sz="800" u="none" cap="none" strike="noStrike">
              <a:solidFill>
                <a:schemeClr val="dk1"/>
              </a:solidFill>
              <a:latin typeface="Calibri"/>
              <a:ea typeface="Calibri"/>
              <a:cs typeface="Calibri"/>
              <a:sym typeface="Calibri"/>
            </a:endParaRPr>
          </a:p>
        </p:txBody>
      </p:sp>
      <p:sp>
        <p:nvSpPr>
          <p:cNvPr id="349" name="Google Shape;349;p12"/>
          <p:cNvSpPr/>
          <p:nvPr/>
        </p:nvSpPr>
        <p:spPr>
          <a:xfrm>
            <a:off x="5000625" y="3974939"/>
            <a:ext cx="3738753" cy="125377"/>
          </a:xfrm>
          <a:prstGeom prst="rect">
            <a:avLst/>
          </a:prstGeom>
          <a:noFill/>
          <a:ln>
            <a:noFill/>
          </a:ln>
        </p:spPr>
        <p:txBody>
          <a:bodyPr anchorCtr="0" anchor="t" bIns="0" lIns="0" spcFirstLastPara="1" rIns="0" wrap="square" tIns="0">
            <a:noAutofit/>
          </a:bodyPr>
          <a:lstStyle/>
          <a:p>
            <a:pPr indent="0" lvl="0" marL="0" marR="0" rtl="0" algn="l">
              <a:lnSpc>
                <a:spcPct val="119975"/>
              </a:lnSpc>
              <a:spcBef>
                <a:spcPts val="0"/>
              </a:spcBef>
              <a:spcAft>
                <a:spcPts val="0"/>
              </a:spcAft>
              <a:buClr>
                <a:srgbClr val="1F1F1F"/>
              </a:buClr>
              <a:buSzPts val="816"/>
              <a:buFont typeface="Tinos"/>
              <a:buNone/>
            </a:pPr>
            <a:r>
              <a:rPr b="0" i="0" lang="en-US" sz="816" u="none" cap="none" strike="noStrike">
                <a:solidFill>
                  <a:srgbClr val="1F1F1F"/>
                </a:solidFill>
                <a:latin typeface="Tinos"/>
                <a:ea typeface="Tinos"/>
                <a:cs typeface="Tinos"/>
                <a:sym typeface="Tinos"/>
              </a:rPr>
              <a:t>Documentation &amp; knowledge transfer</a:t>
            </a:r>
            <a:endParaRPr b="0" i="0" sz="816" u="none" cap="none" strike="noStrike">
              <a:solidFill>
                <a:schemeClr val="dk1"/>
              </a:solidFill>
              <a:latin typeface="Calibri"/>
              <a:ea typeface="Calibri"/>
              <a:cs typeface="Calibri"/>
              <a:sym typeface="Calibri"/>
            </a:endParaRPr>
          </a:p>
        </p:txBody>
      </p:sp>
      <p:sp>
        <p:nvSpPr>
          <p:cNvPr id="350" name="Google Shape;350;p12"/>
          <p:cNvSpPr/>
          <p:nvPr/>
        </p:nvSpPr>
        <p:spPr>
          <a:xfrm>
            <a:off x="5000625" y="4127748"/>
            <a:ext cx="3629025" cy="318152"/>
          </a:xfrm>
          <a:prstGeom prst="rect">
            <a:avLst/>
          </a:prstGeom>
          <a:noFill/>
          <a:ln>
            <a:noFill/>
          </a:ln>
        </p:spPr>
        <p:txBody>
          <a:bodyPr anchorCtr="0" anchor="t" bIns="0" lIns="0" spcFirstLastPara="1" rIns="0" wrap="square" tIns="0">
            <a:noAutofit/>
          </a:bodyPr>
          <a:lstStyle/>
          <a:p>
            <a:pPr indent="0" lvl="0" marL="0" marR="0" rtl="0" algn="l">
              <a:lnSpc>
                <a:spcPct val="1172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Docstrings on every public function, internal architecture note on the layered prompt system, write-up of multi-provider dispatch pattern, knowledge-transfer session for next intern cohort.</a:t>
            </a:r>
            <a:endParaRPr b="0" i="0" sz="800" u="none" cap="none" strike="noStrike">
              <a:solidFill>
                <a:schemeClr val="dk1"/>
              </a:solidFill>
              <a:latin typeface="Calibri"/>
              <a:ea typeface="Calibri"/>
              <a:cs typeface="Calibri"/>
              <a:sym typeface="Calibri"/>
            </a:endParaRPr>
          </a:p>
        </p:txBody>
      </p:sp>
      <p:cxnSp>
        <p:nvCxnSpPr>
          <p:cNvPr id="351" name="Google Shape;351;p12"/>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352" name="Google Shape;352;p12"/>
          <p:cNvSpPr/>
          <p:nvPr/>
        </p:nvSpPr>
        <p:spPr>
          <a:xfrm>
            <a:off x="514350" y="4893469"/>
            <a:ext cx="5312718"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TANGIBLE OUTCOMES</a:t>
            </a:r>
            <a:r>
              <a:rPr b="0" i="0" lang="en-US" sz="800" u="none" cap="none" strike="noStrike">
                <a:solidFill>
                  <a:srgbClr val="8A8A8A"/>
                </a:solidFill>
                <a:latin typeface="Carlito"/>
                <a:ea typeface="Carlito"/>
                <a:cs typeface="Carlito"/>
                <a:sym typeface="Carlito"/>
              </a:rPr>
              <a:t> · DOCUMENTED IN SECTION 4.9 OF THE REPORT</a:t>
            </a:r>
            <a:endParaRPr b="0" i="0" sz="800" u="none" cap="none" strike="noStrike">
              <a:solidFill>
                <a:schemeClr val="dk1"/>
              </a:solidFill>
              <a:latin typeface="Calibri"/>
              <a:ea typeface="Calibri"/>
              <a:cs typeface="Calibri"/>
              <a:sym typeface="Calibri"/>
            </a:endParaRPr>
          </a:p>
        </p:txBody>
      </p:sp>
      <p:sp>
        <p:nvSpPr>
          <p:cNvPr id="353" name="Google Shape;353;p12"/>
          <p:cNvSpPr/>
          <p:nvPr/>
        </p:nvSpPr>
        <p:spPr>
          <a:xfrm>
            <a:off x="5841355" y="4893469"/>
            <a:ext cx="2788295"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3"/>
        </a:solidFill>
      </p:bgPr>
    </p:bg>
    <p:spTree>
      <p:nvGrpSpPr>
        <p:cNvPr id="358" name="Shape 358"/>
        <p:cNvGrpSpPr/>
        <p:nvPr/>
      </p:nvGrpSpPr>
      <p:grpSpPr>
        <a:xfrm>
          <a:off x="0" y="0"/>
          <a:ext cx="0" cy="0"/>
          <a:chOff x="0" y="0"/>
          <a:chExt cx="0" cy="0"/>
        </a:xfrm>
      </p:grpSpPr>
      <p:cxnSp>
        <p:nvCxnSpPr>
          <p:cNvPr id="359" name="Google Shape;359;p13"/>
          <p:cNvCxnSpPr/>
          <p:nvPr/>
        </p:nvCxnSpPr>
        <p:spPr>
          <a:xfrm>
            <a:off x="514350" y="582216"/>
            <a:ext cx="8115300" cy="0"/>
          </a:xfrm>
          <a:prstGeom prst="straightConnector1">
            <a:avLst/>
          </a:prstGeom>
          <a:noFill/>
          <a:ln cap="flat" cmpd="sng" w="9525">
            <a:solidFill>
              <a:srgbClr val="2A2A2A"/>
            </a:solidFill>
            <a:prstDash val="solid"/>
            <a:round/>
            <a:headEnd len="sm" w="sm" type="none"/>
            <a:tailEnd len="sm" w="sm" type="none"/>
          </a:ln>
        </p:spPr>
      </p:cxnSp>
      <p:sp>
        <p:nvSpPr>
          <p:cNvPr id="360" name="Google Shape;360;p13"/>
          <p:cNvSpPr/>
          <p:nvPr/>
        </p:nvSpPr>
        <p:spPr>
          <a:xfrm>
            <a:off x="514350" y="403622"/>
            <a:ext cx="7669820"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1F1F"/>
              </a:buClr>
              <a:buSzPts val="800"/>
              <a:buFont typeface="Carlito"/>
              <a:buNone/>
            </a:pPr>
            <a:r>
              <a:rPr b="0" i="0" lang="en-US" sz="800" u="none" cap="none" strike="noStrike">
                <a:solidFill>
                  <a:srgbClr val="1F1F1F"/>
                </a:solidFill>
                <a:latin typeface="Carlito"/>
                <a:ea typeface="Carlito"/>
                <a:cs typeface="Carlito"/>
                <a:sym typeface="Carlito"/>
              </a:rPr>
              <a:t>INTERNSHIP PRESENTATION · KUNAL SHARMA</a:t>
            </a:r>
            <a:endParaRPr b="0" i="0" sz="800" u="none" cap="none" strike="noStrike">
              <a:solidFill>
                <a:schemeClr val="dk1"/>
              </a:solidFill>
              <a:latin typeface="Calibri"/>
              <a:ea typeface="Calibri"/>
              <a:cs typeface="Calibri"/>
              <a:sym typeface="Calibri"/>
            </a:endParaRPr>
          </a:p>
        </p:txBody>
      </p:sp>
      <p:sp>
        <p:nvSpPr>
          <p:cNvPr id="361" name="Google Shape;361;p13"/>
          <p:cNvSpPr/>
          <p:nvPr/>
        </p:nvSpPr>
        <p:spPr>
          <a:xfrm>
            <a:off x="8187069" y="400050"/>
            <a:ext cx="453969" cy="928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Arial"/>
              <a:buNone/>
            </a:pPr>
            <a:r>
              <a:rPr b="0" i="0" lang="en-US" sz="800" u="none" cap="none" strike="noStrike">
                <a:solidFill>
                  <a:srgbClr val="1E4D4A"/>
                </a:solidFill>
                <a:latin typeface="Arial"/>
                <a:ea typeface="Arial"/>
                <a:cs typeface="Arial"/>
                <a:sym typeface="Arial"/>
              </a:rPr>
              <a:t>11 / 12</a:t>
            </a:r>
            <a:endParaRPr b="0" i="0" sz="800" u="none" cap="none" strike="noStrike">
              <a:solidFill>
                <a:schemeClr val="dk1"/>
              </a:solidFill>
              <a:latin typeface="Calibri"/>
              <a:ea typeface="Calibri"/>
              <a:cs typeface="Calibri"/>
              <a:sym typeface="Calibri"/>
            </a:endParaRPr>
          </a:p>
        </p:txBody>
      </p:sp>
      <p:sp>
        <p:nvSpPr>
          <p:cNvPr id="362" name="Google Shape;362;p13"/>
          <p:cNvSpPr/>
          <p:nvPr/>
        </p:nvSpPr>
        <p:spPr>
          <a:xfrm>
            <a:off x="514350" y="785813"/>
            <a:ext cx="8629650" cy="1197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WHAT I TAKE AWAY</a:t>
            </a:r>
            <a:endParaRPr b="0" i="0" sz="800" u="none" cap="none" strike="noStrike">
              <a:solidFill>
                <a:schemeClr val="dk1"/>
              </a:solidFill>
              <a:latin typeface="Calibri"/>
              <a:ea typeface="Calibri"/>
              <a:cs typeface="Calibri"/>
              <a:sym typeface="Calibri"/>
            </a:endParaRPr>
          </a:p>
        </p:txBody>
      </p:sp>
      <p:sp>
        <p:nvSpPr>
          <p:cNvPr id="363" name="Google Shape;363;p13"/>
          <p:cNvSpPr/>
          <p:nvPr/>
        </p:nvSpPr>
        <p:spPr>
          <a:xfrm>
            <a:off x="514350" y="971550"/>
            <a:ext cx="8521065" cy="356348"/>
          </a:xfrm>
          <a:prstGeom prst="rect">
            <a:avLst/>
          </a:prstGeom>
          <a:noFill/>
          <a:ln>
            <a:noFill/>
          </a:ln>
        </p:spPr>
        <p:txBody>
          <a:bodyPr anchorCtr="0" anchor="t" bIns="0" lIns="0" spcFirstLastPara="1" rIns="0" wrap="square" tIns="0">
            <a:noAutofit/>
          </a:bodyPr>
          <a:lstStyle/>
          <a:p>
            <a:pPr indent="0" lvl="0" marL="0" marR="0" rtl="0" algn="l">
              <a:lnSpc>
                <a:spcPct val="109987"/>
              </a:lnSpc>
              <a:spcBef>
                <a:spcPts val="0"/>
              </a:spcBef>
              <a:spcAft>
                <a:spcPts val="0"/>
              </a:spcAft>
              <a:buClr>
                <a:srgbClr val="1F1F1F"/>
              </a:buClr>
              <a:buSzPts val="2363"/>
              <a:buFont typeface="Tinos"/>
              <a:buNone/>
            </a:pPr>
            <a:r>
              <a:rPr b="0" i="0" lang="en-US" sz="2363" u="none" cap="none" strike="noStrike">
                <a:solidFill>
                  <a:srgbClr val="1F1F1F"/>
                </a:solidFill>
                <a:latin typeface="Tinos"/>
                <a:ea typeface="Tinos"/>
                <a:cs typeface="Tinos"/>
                <a:sym typeface="Tinos"/>
              </a:rPr>
              <a:t>Learnings &amp; reflections</a:t>
            </a:r>
            <a:endParaRPr b="0" i="0" sz="2363" u="none" cap="none" strike="noStrike">
              <a:solidFill>
                <a:schemeClr val="dk1"/>
              </a:solidFill>
              <a:latin typeface="Calibri"/>
              <a:ea typeface="Calibri"/>
              <a:cs typeface="Calibri"/>
              <a:sym typeface="Calibri"/>
            </a:endParaRPr>
          </a:p>
        </p:txBody>
      </p:sp>
      <p:sp>
        <p:nvSpPr>
          <p:cNvPr id="364" name="Google Shape;364;p13"/>
          <p:cNvSpPr/>
          <p:nvPr/>
        </p:nvSpPr>
        <p:spPr>
          <a:xfrm>
            <a:off x="514350" y="1358652"/>
            <a:ext cx="6572250" cy="212531"/>
          </a:xfrm>
          <a:prstGeom prst="rect">
            <a:avLst/>
          </a:prstGeom>
          <a:noFill/>
          <a:ln>
            <a:noFill/>
          </a:ln>
        </p:spPr>
        <p:txBody>
          <a:bodyPr anchorCtr="0" anchor="t" bIns="0" lIns="0" spcFirstLastPara="1" rIns="0" wrap="square" tIns="0">
            <a:noAutofit/>
          </a:bodyPr>
          <a:lstStyle/>
          <a:p>
            <a:pPr indent="0" lvl="0" marL="0" marR="0" rtl="0" algn="l">
              <a:lnSpc>
                <a:spcPct val="144995"/>
              </a:lnSpc>
              <a:spcBef>
                <a:spcPts val="0"/>
              </a:spcBef>
              <a:spcAft>
                <a:spcPts val="0"/>
              </a:spcAft>
              <a:buClr>
                <a:srgbClr val="4A4A4A"/>
              </a:buClr>
              <a:buSzPts val="1069"/>
              <a:buFont typeface="Tinos"/>
              <a:buNone/>
            </a:pPr>
            <a:r>
              <a:rPr b="0" i="1" lang="en-US" sz="1069" u="none" cap="none" strike="noStrike">
                <a:solidFill>
                  <a:srgbClr val="4A4A4A"/>
                </a:solidFill>
                <a:latin typeface="Tinos"/>
                <a:ea typeface="Tinos"/>
                <a:cs typeface="Tinos"/>
                <a:sym typeface="Tinos"/>
              </a:rPr>
              <a:t>Six takeaways — three technical, three professional — that will outlast the specific code I wrote.</a:t>
            </a:r>
            <a:endParaRPr b="0" i="0" sz="1069" u="none" cap="none" strike="noStrike">
              <a:solidFill>
                <a:schemeClr val="dk1"/>
              </a:solidFill>
              <a:latin typeface="Calibri"/>
              <a:ea typeface="Calibri"/>
              <a:cs typeface="Calibri"/>
              <a:sym typeface="Calibri"/>
            </a:endParaRPr>
          </a:p>
        </p:txBody>
      </p:sp>
      <p:cxnSp>
        <p:nvCxnSpPr>
          <p:cNvPr id="365" name="Google Shape;365;p13"/>
          <p:cNvCxnSpPr/>
          <p:nvPr/>
        </p:nvCxnSpPr>
        <p:spPr>
          <a:xfrm>
            <a:off x="514350" y="1876909"/>
            <a:ext cx="2600325" cy="0"/>
          </a:xfrm>
          <a:prstGeom prst="straightConnector1">
            <a:avLst/>
          </a:prstGeom>
          <a:noFill/>
          <a:ln cap="flat" cmpd="sng" w="14275">
            <a:solidFill>
              <a:srgbClr val="1E4D4A"/>
            </a:solidFill>
            <a:prstDash val="solid"/>
            <a:round/>
            <a:headEnd len="sm" w="sm" type="none"/>
            <a:tailEnd len="sm" w="sm" type="none"/>
          </a:ln>
        </p:spPr>
      </p:cxnSp>
      <p:sp>
        <p:nvSpPr>
          <p:cNvPr id="366" name="Google Shape;366;p13"/>
          <p:cNvSpPr/>
          <p:nvPr/>
        </p:nvSpPr>
        <p:spPr>
          <a:xfrm>
            <a:off x="514350" y="1984065"/>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psychology</a:t>
            </a:r>
            <a:endParaRPr b="0" i="0" sz="1575" u="none" cap="none" strike="noStrike">
              <a:solidFill>
                <a:schemeClr val="dk1"/>
              </a:solidFill>
              <a:latin typeface="Calibri"/>
              <a:ea typeface="Calibri"/>
              <a:cs typeface="Calibri"/>
              <a:sym typeface="Calibri"/>
            </a:endParaRPr>
          </a:p>
        </p:txBody>
      </p:sp>
      <p:sp>
        <p:nvSpPr>
          <p:cNvPr id="367" name="Google Shape;367;p13"/>
          <p:cNvSpPr/>
          <p:nvPr/>
        </p:nvSpPr>
        <p:spPr>
          <a:xfrm>
            <a:off x="514350" y="2284102"/>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Prompt engineering is systems engineering</a:t>
            </a:r>
            <a:endParaRPr b="0" i="0" sz="956" u="none" cap="none" strike="noStrike">
              <a:solidFill>
                <a:schemeClr val="dk1"/>
              </a:solidFill>
              <a:latin typeface="Calibri"/>
              <a:ea typeface="Calibri"/>
              <a:cs typeface="Calibri"/>
              <a:sym typeface="Calibri"/>
            </a:endParaRPr>
          </a:p>
        </p:txBody>
      </p:sp>
      <p:sp>
        <p:nvSpPr>
          <p:cNvPr id="368" name="Google Shape;368;p13"/>
          <p:cNvSpPr/>
          <p:nvPr/>
        </p:nvSpPr>
        <p:spPr>
          <a:xfrm>
            <a:off x="514350" y="2486918"/>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A good prompt is not a clever sentence; it is a layered, priority-ordered system with explicit guards, fallbacks, and measurable behaviour. Treat prompts as code: versioned, reviewed, tested.</a:t>
            </a:r>
            <a:endParaRPr b="0" i="0" sz="800" u="none" cap="none" strike="noStrike">
              <a:solidFill>
                <a:schemeClr val="dk1"/>
              </a:solidFill>
              <a:latin typeface="Calibri"/>
              <a:ea typeface="Calibri"/>
              <a:cs typeface="Calibri"/>
              <a:sym typeface="Calibri"/>
            </a:endParaRPr>
          </a:p>
        </p:txBody>
      </p:sp>
      <p:cxnSp>
        <p:nvCxnSpPr>
          <p:cNvPr id="369" name="Google Shape;369;p13"/>
          <p:cNvCxnSpPr/>
          <p:nvPr/>
        </p:nvCxnSpPr>
        <p:spPr>
          <a:xfrm>
            <a:off x="3271838" y="1876909"/>
            <a:ext cx="2600325" cy="0"/>
          </a:xfrm>
          <a:prstGeom prst="straightConnector1">
            <a:avLst/>
          </a:prstGeom>
          <a:noFill/>
          <a:ln cap="flat" cmpd="sng" w="14275">
            <a:solidFill>
              <a:srgbClr val="1E4D4A"/>
            </a:solidFill>
            <a:prstDash val="solid"/>
            <a:round/>
            <a:headEnd len="sm" w="sm" type="none"/>
            <a:tailEnd len="sm" w="sm" type="none"/>
          </a:ln>
        </p:spPr>
      </p:cxnSp>
      <p:sp>
        <p:nvSpPr>
          <p:cNvPr id="370" name="Google Shape;370;p13"/>
          <p:cNvSpPr/>
          <p:nvPr/>
        </p:nvSpPr>
        <p:spPr>
          <a:xfrm>
            <a:off x="3271838" y="1984065"/>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hub</a:t>
            </a:r>
            <a:endParaRPr b="0" i="0" sz="1575" u="none" cap="none" strike="noStrike">
              <a:solidFill>
                <a:schemeClr val="dk1"/>
              </a:solidFill>
              <a:latin typeface="Calibri"/>
              <a:ea typeface="Calibri"/>
              <a:cs typeface="Calibri"/>
              <a:sym typeface="Calibri"/>
            </a:endParaRPr>
          </a:p>
        </p:txBody>
      </p:sp>
      <p:sp>
        <p:nvSpPr>
          <p:cNvPr id="371" name="Google Shape;371;p13"/>
          <p:cNvSpPr/>
          <p:nvPr/>
        </p:nvSpPr>
        <p:spPr>
          <a:xfrm>
            <a:off x="3271838" y="2284102"/>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Multi-provider abstraction pays off</a:t>
            </a:r>
            <a:endParaRPr b="0" i="0" sz="956" u="none" cap="none" strike="noStrike">
              <a:solidFill>
                <a:schemeClr val="dk1"/>
              </a:solidFill>
              <a:latin typeface="Calibri"/>
              <a:ea typeface="Calibri"/>
              <a:cs typeface="Calibri"/>
              <a:sym typeface="Calibri"/>
            </a:endParaRPr>
          </a:p>
        </p:txBody>
      </p:sp>
      <p:sp>
        <p:nvSpPr>
          <p:cNvPr id="372" name="Google Shape;372;p13"/>
          <p:cNvSpPr/>
          <p:nvPr/>
        </p:nvSpPr>
        <p:spPr>
          <a:xfrm>
            <a:off x="3271838" y="2486918"/>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No single AI provider is universally best. Abstracting providers behind a dispatch surface lets you A/B test, swap per use case, and avoid lock-in — at the cost of more integration code.</a:t>
            </a:r>
            <a:endParaRPr b="0" i="0" sz="800" u="none" cap="none" strike="noStrike">
              <a:solidFill>
                <a:schemeClr val="dk1"/>
              </a:solidFill>
              <a:latin typeface="Calibri"/>
              <a:ea typeface="Calibri"/>
              <a:cs typeface="Calibri"/>
              <a:sym typeface="Calibri"/>
            </a:endParaRPr>
          </a:p>
        </p:txBody>
      </p:sp>
      <p:cxnSp>
        <p:nvCxnSpPr>
          <p:cNvPr id="373" name="Google Shape;373;p13"/>
          <p:cNvCxnSpPr/>
          <p:nvPr/>
        </p:nvCxnSpPr>
        <p:spPr>
          <a:xfrm>
            <a:off x="6029325" y="1876909"/>
            <a:ext cx="2600325" cy="0"/>
          </a:xfrm>
          <a:prstGeom prst="straightConnector1">
            <a:avLst/>
          </a:prstGeom>
          <a:noFill/>
          <a:ln cap="flat" cmpd="sng" w="14275">
            <a:solidFill>
              <a:srgbClr val="1E4D4A"/>
            </a:solidFill>
            <a:prstDash val="solid"/>
            <a:round/>
            <a:headEnd len="sm" w="sm" type="none"/>
            <a:tailEnd len="sm" w="sm" type="none"/>
          </a:ln>
        </p:spPr>
      </p:cxnSp>
      <p:sp>
        <p:nvSpPr>
          <p:cNvPr id="374" name="Google Shape;374;p13"/>
          <p:cNvSpPr/>
          <p:nvPr/>
        </p:nvSpPr>
        <p:spPr>
          <a:xfrm>
            <a:off x="6029325" y="1984065"/>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visibility</a:t>
            </a:r>
            <a:endParaRPr b="0" i="0" sz="1575" u="none" cap="none" strike="noStrike">
              <a:solidFill>
                <a:schemeClr val="dk1"/>
              </a:solidFill>
              <a:latin typeface="Calibri"/>
              <a:ea typeface="Calibri"/>
              <a:cs typeface="Calibri"/>
              <a:sym typeface="Calibri"/>
            </a:endParaRPr>
          </a:p>
        </p:txBody>
      </p:sp>
      <p:sp>
        <p:nvSpPr>
          <p:cNvPr id="375" name="Google Shape;375;p13"/>
          <p:cNvSpPr/>
          <p:nvPr/>
        </p:nvSpPr>
        <p:spPr>
          <a:xfrm>
            <a:off x="6029325" y="2284102"/>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Vision models are connective tissue</a:t>
            </a:r>
            <a:endParaRPr b="0" i="0" sz="956" u="none" cap="none" strike="noStrike">
              <a:solidFill>
                <a:schemeClr val="dk1"/>
              </a:solidFill>
              <a:latin typeface="Calibri"/>
              <a:ea typeface="Calibri"/>
              <a:cs typeface="Calibri"/>
              <a:sym typeface="Calibri"/>
            </a:endParaRPr>
          </a:p>
        </p:txBody>
      </p:sp>
      <p:sp>
        <p:nvSpPr>
          <p:cNvPr id="376" name="Google Shape;376;p13"/>
          <p:cNvSpPr/>
          <p:nvPr/>
        </p:nvSpPr>
        <p:spPr>
          <a:xfrm>
            <a:off x="6029325" y="2486918"/>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Claude Vision did not just describe jewellery — it estimated dimensions, authored themes, and captioned results. Vision became the verification layer for every image the system produced.</a:t>
            </a:r>
            <a:endParaRPr b="0" i="0" sz="800" u="none" cap="none" strike="noStrike">
              <a:solidFill>
                <a:schemeClr val="dk1"/>
              </a:solidFill>
              <a:latin typeface="Calibri"/>
              <a:ea typeface="Calibri"/>
              <a:cs typeface="Calibri"/>
              <a:sym typeface="Calibri"/>
            </a:endParaRPr>
          </a:p>
        </p:txBody>
      </p:sp>
      <p:cxnSp>
        <p:nvCxnSpPr>
          <p:cNvPr id="377" name="Google Shape;377;p13"/>
          <p:cNvCxnSpPr/>
          <p:nvPr/>
        </p:nvCxnSpPr>
        <p:spPr>
          <a:xfrm>
            <a:off x="514350" y="3392277"/>
            <a:ext cx="2600325" cy="0"/>
          </a:xfrm>
          <a:prstGeom prst="straightConnector1">
            <a:avLst/>
          </a:prstGeom>
          <a:noFill/>
          <a:ln cap="flat" cmpd="sng" w="14275">
            <a:solidFill>
              <a:srgbClr val="1E4D4A"/>
            </a:solidFill>
            <a:prstDash val="solid"/>
            <a:round/>
            <a:headEnd len="sm" w="sm" type="none"/>
            <a:tailEnd len="sm" w="sm" type="none"/>
          </a:ln>
        </p:spPr>
      </p:cxnSp>
      <p:sp>
        <p:nvSpPr>
          <p:cNvPr id="378" name="Google Shape;378;p13"/>
          <p:cNvSpPr/>
          <p:nvPr/>
        </p:nvSpPr>
        <p:spPr>
          <a:xfrm>
            <a:off x="514350" y="3499433"/>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groups</a:t>
            </a:r>
            <a:endParaRPr b="0" i="0" sz="1575" u="none" cap="none" strike="noStrike">
              <a:solidFill>
                <a:schemeClr val="dk1"/>
              </a:solidFill>
              <a:latin typeface="Calibri"/>
              <a:ea typeface="Calibri"/>
              <a:cs typeface="Calibri"/>
              <a:sym typeface="Calibri"/>
            </a:endParaRPr>
          </a:p>
        </p:txBody>
      </p:sp>
      <p:sp>
        <p:nvSpPr>
          <p:cNvPr id="379" name="Google Shape;379;p13"/>
          <p:cNvSpPr/>
          <p:nvPr/>
        </p:nvSpPr>
        <p:spPr>
          <a:xfrm>
            <a:off x="514350" y="3799470"/>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Code review is a learning loop</a:t>
            </a:r>
            <a:endParaRPr b="0" i="0" sz="956" u="none" cap="none" strike="noStrike">
              <a:solidFill>
                <a:schemeClr val="dk1"/>
              </a:solidFill>
              <a:latin typeface="Calibri"/>
              <a:ea typeface="Calibri"/>
              <a:cs typeface="Calibri"/>
              <a:sym typeface="Calibri"/>
            </a:endParaRPr>
          </a:p>
        </p:txBody>
      </p:sp>
      <p:sp>
        <p:nvSpPr>
          <p:cNvPr id="380" name="Google Shape;380;p13"/>
          <p:cNvSpPr/>
          <p:nvPr/>
        </p:nvSpPr>
        <p:spPr>
          <a:xfrm>
            <a:off x="514350" y="4002286"/>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Pull-request feedback from senior engineers was the single highest-bandwidth learning channel. Treat review comments as a curated reading list, not a critique.</a:t>
            </a:r>
            <a:endParaRPr b="0" i="0" sz="800" u="none" cap="none" strike="noStrike">
              <a:solidFill>
                <a:schemeClr val="dk1"/>
              </a:solidFill>
              <a:latin typeface="Calibri"/>
              <a:ea typeface="Calibri"/>
              <a:cs typeface="Calibri"/>
              <a:sym typeface="Calibri"/>
            </a:endParaRPr>
          </a:p>
        </p:txBody>
      </p:sp>
      <p:cxnSp>
        <p:nvCxnSpPr>
          <p:cNvPr id="381" name="Google Shape;381;p13"/>
          <p:cNvCxnSpPr/>
          <p:nvPr/>
        </p:nvCxnSpPr>
        <p:spPr>
          <a:xfrm>
            <a:off x="3271838" y="3392277"/>
            <a:ext cx="2600325" cy="0"/>
          </a:xfrm>
          <a:prstGeom prst="straightConnector1">
            <a:avLst/>
          </a:prstGeom>
          <a:noFill/>
          <a:ln cap="flat" cmpd="sng" w="14275">
            <a:solidFill>
              <a:srgbClr val="1E4D4A"/>
            </a:solidFill>
            <a:prstDash val="solid"/>
            <a:round/>
            <a:headEnd len="sm" w="sm" type="none"/>
            <a:tailEnd len="sm" w="sm" type="none"/>
          </a:ln>
        </p:spPr>
      </p:cxnSp>
      <p:sp>
        <p:nvSpPr>
          <p:cNvPr id="382" name="Google Shape;382;p13"/>
          <p:cNvSpPr/>
          <p:nvPr/>
        </p:nvSpPr>
        <p:spPr>
          <a:xfrm>
            <a:off x="3271838" y="3499433"/>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science</a:t>
            </a:r>
            <a:endParaRPr b="0" i="0" sz="1575" u="none" cap="none" strike="noStrike">
              <a:solidFill>
                <a:schemeClr val="dk1"/>
              </a:solidFill>
              <a:latin typeface="Calibri"/>
              <a:ea typeface="Calibri"/>
              <a:cs typeface="Calibri"/>
              <a:sym typeface="Calibri"/>
            </a:endParaRPr>
          </a:p>
        </p:txBody>
      </p:sp>
      <p:sp>
        <p:nvSpPr>
          <p:cNvPr id="383" name="Google Shape;383;p13"/>
          <p:cNvSpPr/>
          <p:nvPr/>
        </p:nvSpPr>
        <p:spPr>
          <a:xfrm>
            <a:off x="3271838" y="3799470"/>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Hypothesis-driven beats intuition-driven</a:t>
            </a:r>
            <a:endParaRPr b="0" i="0" sz="956" u="none" cap="none" strike="noStrike">
              <a:solidFill>
                <a:schemeClr val="dk1"/>
              </a:solidFill>
              <a:latin typeface="Calibri"/>
              <a:ea typeface="Calibri"/>
              <a:cs typeface="Calibri"/>
              <a:sym typeface="Calibri"/>
            </a:endParaRPr>
          </a:p>
        </p:txBody>
      </p:sp>
      <p:sp>
        <p:nvSpPr>
          <p:cNvPr id="384" name="Google Shape;384;p13"/>
          <p:cNvSpPr/>
          <p:nvPr/>
        </p:nvSpPr>
        <p:spPr>
          <a:xfrm>
            <a:off x="3271838" y="4002286"/>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For prompt changes especially: formulate a hypothesis, design an eval corpus, measure with and without the change, document the result. Intuition alone produces confident wrong decisions.</a:t>
            </a:r>
            <a:endParaRPr b="0" i="0" sz="800" u="none" cap="none" strike="noStrike">
              <a:solidFill>
                <a:schemeClr val="dk1"/>
              </a:solidFill>
              <a:latin typeface="Calibri"/>
              <a:ea typeface="Calibri"/>
              <a:cs typeface="Calibri"/>
              <a:sym typeface="Calibri"/>
            </a:endParaRPr>
          </a:p>
        </p:txBody>
      </p:sp>
      <p:cxnSp>
        <p:nvCxnSpPr>
          <p:cNvPr id="385" name="Google Shape;385;p13"/>
          <p:cNvCxnSpPr/>
          <p:nvPr/>
        </p:nvCxnSpPr>
        <p:spPr>
          <a:xfrm>
            <a:off x="6029325" y="3392277"/>
            <a:ext cx="2600325" cy="0"/>
          </a:xfrm>
          <a:prstGeom prst="straightConnector1">
            <a:avLst/>
          </a:prstGeom>
          <a:noFill/>
          <a:ln cap="flat" cmpd="sng" w="14275">
            <a:solidFill>
              <a:srgbClr val="1E4D4A"/>
            </a:solidFill>
            <a:prstDash val="solid"/>
            <a:round/>
            <a:headEnd len="sm" w="sm" type="none"/>
            <a:tailEnd len="sm" w="sm" type="none"/>
          </a:ln>
        </p:spPr>
      </p:cxnSp>
      <p:sp>
        <p:nvSpPr>
          <p:cNvPr id="386" name="Google Shape;386;p13"/>
          <p:cNvSpPr/>
          <p:nvPr/>
        </p:nvSpPr>
        <p:spPr>
          <a:xfrm>
            <a:off x="6029325" y="3499433"/>
            <a:ext cx="2600325"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1575"/>
              <a:buFont typeface="Carlito"/>
              <a:buNone/>
            </a:pPr>
            <a:r>
              <a:rPr b="0" i="0" lang="en-US" sz="1575" u="none" cap="none" strike="noStrike">
                <a:solidFill>
                  <a:srgbClr val="1E4D4A"/>
                </a:solidFill>
                <a:latin typeface="Carlito"/>
                <a:ea typeface="Carlito"/>
                <a:cs typeface="Carlito"/>
                <a:sym typeface="Carlito"/>
              </a:rPr>
              <a:t>menu_book</a:t>
            </a:r>
            <a:endParaRPr b="0" i="0" sz="1575" u="none" cap="none" strike="noStrike">
              <a:solidFill>
                <a:schemeClr val="dk1"/>
              </a:solidFill>
              <a:latin typeface="Calibri"/>
              <a:ea typeface="Calibri"/>
              <a:cs typeface="Calibri"/>
              <a:sym typeface="Calibri"/>
            </a:endParaRPr>
          </a:p>
        </p:txBody>
      </p:sp>
      <p:sp>
        <p:nvSpPr>
          <p:cNvPr id="387" name="Google Shape;387;p13"/>
          <p:cNvSpPr/>
          <p:nvPr/>
        </p:nvSpPr>
        <p:spPr>
          <a:xfrm>
            <a:off x="6029325" y="3799470"/>
            <a:ext cx="2710053" cy="157319"/>
          </a:xfrm>
          <a:prstGeom prst="rect">
            <a:avLst/>
          </a:prstGeom>
          <a:noFill/>
          <a:ln>
            <a:noFill/>
          </a:ln>
        </p:spPr>
        <p:txBody>
          <a:bodyPr anchorCtr="0" anchor="t" bIns="0" lIns="0" spcFirstLastPara="1" rIns="0" wrap="square" tIns="0">
            <a:noAutofit/>
          </a:bodyPr>
          <a:lstStyle/>
          <a:p>
            <a:pPr indent="0" lvl="0" marL="0" marR="0" rtl="0" algn="l">
              <a:lnSpc>
                <a:spcPct val="120083"/>
              </a:lnSpc>
              <a:spcBef>
                <a:spcPts val="0"/>
              </a:spcBef>
              <a:spcAft>
                <a:spcPts val="0"/>
              </a:spcAft>
              <a:buClr>
                <a:srgbClr val="1F1F1F"/>
              </a:buClr>
              <a:buSzPts val="956"/>
              <a:buFont typeface="Tinos"/>
              <a:buNone/>
            </a:pPr>
            <a:r>
              <a:rPr b="1" i="0" lang="en-US" sz="956" u="none" cap="none" strike="noStrike">
                <a:solidFill>
                  <a:srgbClr val="1F1F1F"/>
                </a:solidFill>
                <a:latin typeface="Tinos"/>
                <a:ea typeface="Tinos"/>
                <a:cs typeface="Tinos"/>
                <a:sym typeface="Tinos"/>
              </a:rPr>
              <a:t>Write the post-mortem even when you succeed</a:t>
            </a:r>
            <a:endParaRPr b="0" i="0" sz="956" u="none" cap="none" strike="noStrike">
              <a:solidFill>
                <a:schemeClr val="dk1"/>
              </a:solidFill>
              <a:latin typeface="Calibri"/>
              <a:ea typeface="Calibri"/>
              <a:cs typeface="Calibri"/>
              <a:sym typeface="Calibri"/>
            </a:endParaRPr>
          </a:p>
        </p:txBody>
      </p:sp>
      <p:sp>
        <p:nvSpPr>
          <p:cNvPr id="388" name="Google Shape;388;p13"/>
          <p:cNvSpPr/>
          <p:nvPr/>
        </p:nvSpPr>
        <p:spPr>
          <a:xfrm>
            <a:off x="6029325" y="4002286"/>
            <a:ext cx="2600325" cy="510064"/>
          </a:xfrm>
          <a:prstGeom prst="rect">
            <a:avLst/>
          </a:prstGeom>
          <a:noFill/>
          <a:ln>
            <a:noFill/>
          </a:ln>
        </p:spPr>
        <p:txBody>
          <a:bodyPr anchorCtr="0" anchor="t" bIns="0" lIns="0" spcFirstLastPara="1" rIns="0" wrap="square" tIns="0">
            <a:noAutofit/>
          </a:bodyPr>
          <a:lstStyle/>
          <a:p>
            <a:pPr indent="0" lvl="0" marL="0" marR="0" rtl="0" algn="l">
              <a:lnSpc>
                <a:spcPct val="130750"/>
              </a:lnSpc>
              <a:spcBef>
                <a:spcPts val="0"/>
              </a:spcBef>
              <a:spcAft>
                <a:spcPts val="0"/>
              </a:spcAft>
              <a:buClr>
                <a:srgbClr val="4A4A4A"/>
              </a:buClr>
              <a:buSzPts val="800"/>
              <a:buFont typeface="Carlito"/>
              <a:buNone/>
            </a:pPr>
            <a:r>
              <a:rPr b="0" i="0" lang="en-US" sz="800" u="none" cap="none" strike="noStrike">
                <a:solidFill>
                  <a:srgbClr val="4A4A4A"/>
                </a:solidFill>
                <a:latin typeface="Carlito"/>
                <a:ea typeface="Carlito"/>
                <a:cs typeface="Carlito"/>
                <a:sym typeface="Carlito"/>
              </a:rPr>
              <a:t>The team's culture of honest post-mortems — including for successes — built a durable knowledge base that the next engineer could learn from. Documentation is engineering, not paperwork.</a:t>
            </a:r>
            <a:endParaRPr b="0" i="0" sz="800" u="none" cap="none" strike="noStrike">
              <a:solidFill>
                <a:schemeClr val="dk1"/>
              </a:solidFill>
              <a:latin typeface="Calibri"/>
              <a:ea typeface="Calibri"/>
              <a:cs typeface="Calibri"/>
              <a:sym typeface="Calibri"/>
            </a:endParaRPr>
          </a:p>
        </p:txBody>
      </p:sp>
      <p:cxnSp>
        <p:nvCxnSpPr>
          <p:cNvPr id="389" name="Google Shape;389;p13"/>
          <p:cNvCxnSpPr/>
          <p:nvPr/>
        </p:nvCxnSpPr>
        <p:spPr>
          <a:xfrm>
            <a:off x="514350" y="4818459"/>
            <a:ext cx="8115300" cy="0"/>
          </a:xfrm>
          <a:prstGeom prst="straightConnector1">
            <a:avLst/>
          </a:prstGeom>
          <a:noFill/>
          <a:ln cap="flat" cmpd="sng" w="9525">
            <a:solidFill>
              <a:srgbClr val="F1EEE6"/>
            </a:solidFill>
            <a:prstDash val="solid"/>
            <a:round/>
            <a:headEnd len="sm" w="sm" type="none"/>
            <a:tailEnd len="sm" w="sm" type="none"/>
          </a:ln>
        </p:spPr>
      </p:cxnSp>
      <p:sp>
        <p:nvSpPr>
          <p:cNvPr id="390" name="Google Shape;390;p13"/>
          <p:cNvSpPr/>
          <p:nvPr/>
        </p:nvSpPr>
        <p:spPr>
          <a:xfrm>
            <a:off x="514350" y="4893469"/>
            <a:ext cx="4602361"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4D4A"/>
              </a:buClr>
              <a:buSzPts val="800"/>
              <a:buFont typeface="Carlito"/>
              <a:buNone/>
            </a:pPr>
            <a:r>
              <a:rPr b="0" i="0" lang="en-US" sz="800" u="none" cap="none" strike="noStrike">
                <a:solidFill>
                  <a:srgbClr val="1E4D4A"/>
                </a:solidFill>
                <a:latin typeface="Carlito"/>
                <a:ea typeface="Carlito"/>
                <a:cs typeface="Carlito"/>
                <a:sym typeface="Carlito"/>
              </a:rPr>
              <a:t>THREE TECHNICAL + THREE PROFESSIONAL TAKEAWAYS</a:t>
            </a:r>
            <a:endParaRPr b="0" i="0" sz="800" u="none" cap="none" strike="noStrike">
              <a:solidFill>
                <a:schemeClr val="dk1"/>
              </a:solidFill>
              <a:latin typeface="Calibri"/>
              <a:ea typeface="Calibri"/>
              <a:cs typeface="Calibri"/>
              <a:sym typeface="Calibri"/>
            </a:endParaRPr>
          </a:p>
        </p:txBody>
      </p:sp>
      <p:sp>
        <p:nvSpPr>
          <p:cNvPr id="391" name="Google Shape;391;p13"/>
          <p:cNvSpPr/>
          <p:nvPr/>
        </p:nvSpPr>
        <p:spPr>
          <a:xfrm>
            <a:off x="5130998" y="4893469"/>
            <a:ext cx="3498652" cy="91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600"/>
              <a:buFont typeface="Carlito"/>
              <a:buNone/>
            </a:pPr>
            <a:r>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1F1F"/>
        </a:solidFill>
      </p:bgPr>
    </p:bg>
    <p:spTree>
      <p:nvGrpSpPr>
        <p:cNvPr id="396" name="Shape 396"/>
        <p:cNvGrpSpPr/>
        <p:nvPr/>
      </p:nvGrpSpPr>
      <p:grpSpPr>
        <a:xfrm>
          <a:off x="0" y="0"/>
          <a:ext cx="0" cy="0"/>
          <a:chOff x="0" y="0"/>
          <a:chExt cx="0" cy="0"/>
        </a:xfrm>
      </p:grpSpPr>
      <p:sp>
        <p:nvSpPr>
          <p:cNvPr id="397" name="Google Shape;397;p14"/>
          <p:cNvSpPr/>
          <p:nvPr/>
        </p:nvSpPr>
        <p:spPr>
          <a:xfrm>
            <a:off x="1015430" y="1113755"/>
            <a:ext cx="7113139" cy="11970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D8E4E2"/>
              </a:buClr>
              <a:buSzPts val="800"/>
              <a:buFont typeface="Carlito"/>
              <a:buNone/>
            </a:pPr>
            <a:r>
              <a:rPr b="0" i="0" lang="en-US" sz="800" u="none" cap="none" strike="noStrike">
                <a:solidFill>
                  <a:srgbClr val="D8E4E2"/>
                </a:solidFill>
                <a:latin typeface="Carlito"/>
                <a:ea typeface="Carlito"/>
                <a:cs typeface="Carlito"/>
                <a:sym typeface="Carlito"/>
              </a:rPr>
              <a:t>END OF PRESENTATION</a:t>
            </a:r>
            <a:endParaRPr b="0" i="0" sz="800" u="none" cap="none" strike="noStrike">
              <a:solidFill>
                <a:schemeClr val="dk1"/>
              </a:solidFill>
              <a:latin typeface="Calibri"/>
              <a:ea typeface="Calibri"/>
              <a:cs typeface="Calibri"/>
              <a:sym typeface="Calibri"/>
            </a:endParaRPr>
          </a:p>
        </p:txBody>
      </p:sp>
      <p:sp>
        <p:nvSpPr>
          <p:cNvPr id="398" name="Google Shape;398;p14"/>
          <p:cNvSpPr/>
          <p:nvPr/>
        </p:nvSpPr>
        <p:spPr>
          <a:xfrm>
            <a:off x="274320" y="1299493"/>
            <a:ext cx="8595360" cy="703534"/>
          </a:xfrm>
          <a:prstGeom prst="rect">
            <a:avLst/>
          </a:prstGeom>
          <a:noFill/>
          <a:ln>
            <a:noFill/>
          </a:ln>
        </p:spPr>
        <p:txBody>
          <a:bodyPr anchorCtr="0" anchor="t" bIns="0" lIns="0" spcFirstLastPara="1" rIns="0" wrap="square" tIns="0">
            <a:noAutofit/>
          </a:bodyPr>
          <a:lstStyle/>
          <a:p>
            <a:pPr indent="0" lvl="0" marL="0" marR="0" rtl="0" algn="ctr">
              <a:lnSpc>
                <a:spcPct val="95000"/>
              </a:lnSpc>
              <a:spcBef>
                <a:spcPts val="0"/>
              </a:spcBef>
              <a:spcAft>
                <a:spcPts val="0"/>
              </a:spcAft>
              <a:buClr>
                <a:srgbClr val="FAF8F3"/>
              </a:buClr>
              <a:buSzPts val="5400"/>
              <a:buFont typeface="Tinos"/>
              <a:buNone/>
            </a:pPr>
            <a:r>
              <a:rPr b="1" i="0" lang="en-US" sz="5400" u="none" cap="none" strike="noStrike">
                <a:solidFill>
                  <a:srgbClr val="FAF8F3"/>
                </a:solidFill>
                <a:latin typeface="Tinos"/>
                <a:ea typeface="Tinos"/>
                <a:cs typeface="Tinos"/>
                <a:sym typeface="Tinos"/>
              </a:rPr>
              <a:t>Thank </a:t>
            </a:r>
            <a:r>
              <a:rPr b="1" i="1" lang="en-US" sz="5400" u="none" cap="none" strike="noStrike">
                <a:solidFill>
                  <a:srgbClr val="D8E4E2"/>
                </a:solidFill>
                <a:latin typeface="Tinos"/>
                <a:ea typeface="Tinos"/>
                <a:cs typeface="Tinos"/>
                <a:sym typeface="Tinos"/>
              </a:rPr>
              <a:t>you.</a:t>
            </a:r>
            <a:endParaRPr b="0" i="0" sz="5400" u="none" cap="none" strike="noStrike">
              <a:solidFill>
                <a:schemeClr val="dk1"/>
              </a:solidFill>
              <a:latin typeface="Calibri"/>
              <a:ea typeface="Calibri"/>
              <a:cs typeface="Calibri"/>
              <a:sym typeface="Calibri"/>
            </a:endParaRPr>
          </a:p>
        </p:txBody>
      </p:sp>
      <p:sp>
        <p:nvSpPr>
          <p:cNvPr id="399" name="Google Shape;399;p14"/>
          <p:cNvSpPr/>
          <p:nvPr/>
        </p:nvSpPr>
        <p:spPr>
          <a:xfrm>
            <a:off x="1571550" y="2591194"/>
            <a:ext cx="6000900" cy="373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AF8F3"/>
              </a:buClr>
              <a:buSzPts val="1350"/>
              <a:buFont typeface="Tinos"/>
              <a:buNone/>
            </a:pPr>
            <a:r>
              <a:rPr b="1" i="0" lang="en-US" sz="2250" u="none" cap="none" strike="noStrike">
                <a:solidFill>
                  <a:srgbClr val="FAF8F3"/>
                </a:solidFill>
                <a:latin typeface="Tinos"/>
                <a:ea typeface="Tinos"/>
                <a:cs typeface="Tinos"/>
                <a:sym typeface="Tinos"/>
              </a:rPr>
              <a:t>Kunal Sharma</a:t>
            </a:r>
            <a:endParaRPr b="0" i="0" sz="2250" u="none" cap="none" strike="noStrike">
              <a:solidFill>
                <a:schemeClr val="dk1"/>
              </a:solidFill>
              <a:latin typeface="Calibri"/>
              <a:ea typeface="Calibri"/>
              <a:cs typeface="Calibri"/>
              <a:sym typeface="Calibri"/>
            </a:endParaRPr>
          </a:p>
        </p:txBody>
      </p:sp>
      <p:sp>
        <p:nvSpPr>
          <p:cNvPr id="400" name="Google Shape;400;p14"/>
          <p:cNvSpPr/>
          <p:nvPr/>
        </p:nvSpPr>
        <p:spPr>
          <a:xfrm>
            <a:off x="1465850" y="2964412"/>
            <a:ext cx="6235800" cy="25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A8A8A"/>
              </a:buClr>
              <a:buSzPts val="800"/>
              <a:buFont typeface="Carlito"/>
              <a:buNone/>
            </a:pPr>
            <a:r>
              <a:rPr b="0" i="0" lang="en-US" sz="1200" u="none" cap="none" strike="noStrike">
                <a:solidFill>
                  <a:srgbClr val="8A8A8A"/>
                </a:solidFill>
                <a:latin typeface="Carlito"/>
                <a:ea typeface="Carlito"/>
                <a:cs typeface="Carlito"/>
                <a:sym typeface="Carlito"/>
              </a:rPr>
              <a:t>B.TECH CSE · 7TH SEMESTER · CS-2341057 · 2026–27</a:t>
            </a:r>
            <a:endParaRPr b="0" i="0" sz="1200" u="none" cap="none" strike="noStrike">
              <a:solidFill>
                <a:schemeClr val="dk1"/>
              </a:solidFill>
              <a:latin typeface="Calibri"/>
              <a:ea typeface="Calibri"/>
              <a:cs typeface="Calibri"/>
              <a:sym typeface="Calibri"/>
            </a:endParaRPr>
          </a:p>
        </p:txBody>
      </p:sp>
      <p:sp>
        <p:nvSpPr>
          <p:cNvPr id="401" name="Google Shape;401;p14"/>
          <p:cNvSpPr/>
          <p:nvPr/>
        </p:nvSpPr>
        <p:spPr>
          <a:xfrm>
            <a:off x="1465850" y="3188485"/>
            <a:ext cx="6235800" cy="256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A8A8A"/>
              </a:buClr>
              <a:buSzPts val="800"/>
              <a:buFont typeface="Carlito"/>
              <a:buNone/>
            </a:pPr>
            <a:r>
              <a:rPr b="0" i="0" lang="en-US" sz="1200" u="none" cap="none" strike="noStrike">
                <a:solidFill>
                  <a:srgbClr val="8A8A8A"/>
                </a:solidFill>
                <a:latin typeface="Carlito"/>
                <a:ea typeface="Carlito"/>
                <a:cs typeface="Carlito"/>
                <a:sym typeface="Carlito"/>
              </a:rPr>
              <a:t>IILM UNIVERSITY, GREATER NOIDA · </a:t>
            </a:r>
            <a:r>
              <a:rPr b="0" i="0" lang="en-US" sz="1200" u="none" cap="none" strike="noStrike">
                <a:solidFill>
                  <a:srgbClr val="D8E4E2"/>
                </a:solidFill>
                <a:latin typeface="Carlito"/>
                <a:ea typeface="Carlito"/>
                <a:cs typeface="Carlito"/>
                <a:sym typeface="Carlito"/>
              </a:rPr>
              <a:t>INTELYTICA BUSINESS ANALYTICS PVT. LTD.</a:t>
            </a:r>
            <a:endParaRPr b="0" i="0" sz="1200" u="none" cap="none" strike="noStrike">
              <a:solidFill>
                <a:schemeClr val="dk1"/>
              </a:solidFill>
              <a:latin typeface="Calibri"/>
              <a:ea typeface="Calibri"/>
              <a:cs typeface="Calibri"/>
              <a:sym typeface="Calibri"/>
            </a:endParaRPr>
          </a:p>
        </p:txBody>
      </p:sp>
      <p:sp>
        <p:nvSpPr>
          <p:cNvPr id="402" name="Google Shape;402;p14"/>
          <p:cNvSpPr/>
          <p:nvPr/>
        </p:nvSpPr>
        <p:spPr>
          <a:xfrm>
            <a:off x="1585254" y="3316563"/>
            <a:ext cx="5973600" cy="12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A8A8A"/>
              </a:buClr>
              <a:buSzPts val="800"/>
              <a:buFont typeface="Carlito"/>
              <a:buNone/>
            </a:pPr>
            <a:r>
              <a:t/>
            </a:r>
            <a:endParaRPr b="0" i="0" sz="800" u="none" cap="none" strike="noStrike">
              <a:solidFill>
                <a:schemeClr val="dk1"/>
              </a:solidFill>
              <a:latin typeface="Calibri"/>
              <a:ea typeface="Calibri"/>
              <a:cs typeface="Calibri"/>
              <a:sym typeface="Calibri"/>
            </a:endParaRPr>
          </a:p>
        </p:txBody>
      </p:sp>
      <p:pic>
        <p:nvPicPr>
          <p:cNvPr id="403" name="Google Shape;403;p14"/>
          <p:cNvPicPr preferRelativeResize="0"/>
          <p:nvPr/>
        </p:nvPicPr>
        <p:blipFill rotWithShape="1">
          <a:blip r:embed="rId3">
            <a:alphaModFix/>
          </a:blip>
          <a:srcRect b="11116" l="10443" r="14802" t="13571"/>
          <a:stretch/>
        </p:blipFill>
        <p:spPr>
          <a:xfrm>
            <a:off x="8004500" y="176675"/>
            <a:ext cx="923625" cy="930637"/>
          </a:xfrm>
          <a:prstGeom prst="rect">
            <a:avLst/>
          </a:prstGeom>
          <a:noFill/>
          <a:ln>
            <a:noFill/>
          </a:ln>
        </p:spPr>
      </p:pic>
      <p:pic>
        <p:nvPicPr>
          <p:cNvPr id="404" name="Google Shape;404;p14"/>
          <p:cNvPicPr preferRelativeResize="0"/>
          <p:nvPr/>
        </p:nvPicPr>
        <p:blipFill rotWithShape="1">
          <a:blip r:embed="rId4">
            <a:alphaModFix/>
          </a:blip>
          <a:srcRect b="0" l="0" r="72073" t="0"/>
          <a:stretch/>
        </p:blipFill>
        <p:spPr>
          <a:xfrm>
            <a:off x="134324" y="176675"/>
            <a:ext cx="871030" cy="1038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